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817F6-F1F0-B3F3-8ECF-5B416C03A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19D24-BA36-2FE1-8787-81A556B32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FAEBA-8ED8-A18D-9DFE-D68B8CC9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F921-6D25-448E-8B95-B98AEED7E5C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242EA-9F3F-74B7-F44A-6F32E46E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C98AF-C455-F242-F9C9-1A490A9F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0BB-C9E7-4806-907A-807C08E2B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9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E064-4D3B-B86E-14DB-52398E24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1D093-FB67-4189-10EC-E54938018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38D83-42B0-2951-560C-1805573E6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F921-6D25-448E-8B95-B98AEED7E5C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5AE80-4334-95FA-BAE0-800CCD6C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055E3-E9C2-087C-3AEC-22EDE543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0BB-C9E7-4806-907A-807C08E2B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9821-6025-B0EE-CD3F-8AE63F715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5DB69-FA07-D4BE-DDEE-C7A479FBD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0D2BC-32DB-0EA9-C246-38B9E036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F921-6D25-448E-8B95-B98AEED7E5C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516B7-F8AA-DCA8-DE90-97B22C0E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AA6EF-2B59-95E0-AF4A-8FDFFAFA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0BB-C9E7-4806-907A-807C08E2B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86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1BF58-EAE5-8AC0-0A79-7E35E662E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7B30-B898-B7D5-A011-6DDDE3EA63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99E64-04CF-40D1-08B0-C081B42C4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F4101-69E3-D51A-2B3B-2F2F4910C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F921-6D25-448E-8B95-B98AEED7E5C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66980-6493-6157-5716-0D6BAC856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FC738-5060-47C0-34C2-6201CA9A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0BB-C9E7-4806-907A-807C08E2B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07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F4F51-50C1-8239-F3EE-79E4AC4B9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AA10F-3BC4-2A48-B7A7-2CC618458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E72C-D127-DA9D-9E73-B0EF72656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4F88D1-2D66-63FD-D037-9EF8020C5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871647-7BFC-EC5B-5C1D-150FA4D990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52C5C5-9C01-7C8C-E640-2C6437285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F921-6D25-448E-8B95-B98AEED7E5C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E48EFC-BB4C-0D9D-2B33-A1E8148B2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7051C-F7B6-489B-5AC9-D37DF0F8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0BB-C9E7-4806-907A-807C08E2B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95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36E2F-19C5-9938-4718-ACCA437B7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C76877-3019-B985-03DC-9B87FE86A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F921-6D25-448E-8B95-B98AEED7E5C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C5FB43-FE5C-326E-641E-0BAACE01E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49685-CEDB-AD92-02BD-122EC5C5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0BB-C9E7-4806-907A-807C08E2B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5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CA196-1828-E89C-968E-DC98F1945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F921-6D25-448E-8B95-B98AEED7E5C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AB018D-3079-CF9C-FC13-52D07240A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3A2B1-7B34-27B8-9A90-17A4A703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0BB-C9E7-4806-907A-807C08E2B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61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B736C-8882-E9BB-9526-CFACA15B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8A18B-A622-97A8-9D86-386D66AE8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0942E-4A2C-5A6A-FE4C-7B07731E1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6A800-4CAF-7FF0-B2FA-68BA8BEF5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F921-6D25-448E-8B95-B98AEED7E5C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9DD65-8135-9EEA-3F56-E95B0D716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7C97E-B3AF-AD0A-09C7-81E32997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0BB-C9E7-4806-907A-807C08E2B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59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1D73-76B9-F87E-13A2-1FDAC6F17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C1BE95-C378-54FE-0CCE-15C20005DD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2E759-9E30-F09A-985A-EC1F0B257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E018F-5639-DA2D-3EE0-0357A4A28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F921-6D25-448E-8B95-B98AEED7E5C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DD5E5-E093-A707-FCEF-661F275C6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1356F-D90E-2EE0-FD09-90D26156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0BB-C9E7-4806-907A-807C08E2B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8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049B9-E8C6-F01B-6E96-5922B815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D763FF-BBD1-E50C-CDBA-DA0EFD07C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89BB7-E359-3876-A756-DEB138FBB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F921-6D25-448E-8B95-B98AEED7E5C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51458-A882-4E27-57E7-3F43B7FA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46897-9A6E-EBD6-F261-F71A41F1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0BB-C9E7-4806-907A-807C08E2B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93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F31597-E878-9E02-5769-90A2A2E3C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906D2-7515-69A5-3D11-7434A6CA4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A366B-8983-C208-AE50-005E66930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F921-6D25-448E-8B95-B98AEED7E5C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A8134-2609-E478-76E0-10903371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F940E-AF24-7D78-324D-6B89CED48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0BB-C9E7-4806-907A-807C08E2B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262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35BFA0-FEA6-FA45-4F6C-922F27EA6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4D164-84D9-7FBA-DFD5-C0B1EF9BF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A0043-6439-4F57-6B17-6EEDFB0034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0F921-6D25-448E-8B95-B98AEED7E5C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2A7D5-8BBD-CE74-CD35-BB74980DB7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175C8-A895-032C-00DF-3CD87C84C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450BB-C9E7-4806-907A-807C08E2B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83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DAFCE4-5437-5AFC-0162-6CA04D0C8272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rgbClr val="176C58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203405F-E694-6531-3283-8C93301AD911}"/>
              </a:ext>
            </a:extLst>
          </p:cNvPr>
          <p:cNvSpPr/>
          <p:nvPr/>
        </p:nvSpPr>
        <p:spPr>
          <a:xfrm>
            <a:off x="8826500" y="952500"/>
            <a:ext cx="4191000" cy="4191000"/>
          </a:xfrm>
          <a:prstGeom prst="ellipse">
            <a:avLst/>
          </a:prstGeom>
          <a:noFill/>
          <a:ln w="19050" cap="flat" cmpd="sng" algn="ctr">
            <a:solidFill>
              <a:srgbClr val="5EAA95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420F7A-218E-6622-1649-4CBE679EE5A7}"/>
              </a:ext>
            </a:extLst>
          </p:cNvPr>
          <p:cNvSpPr/>
          <p:nvPr/>
        </p:nvSpPr>
        <p:spPr>
          <a:xfrm>
            <a:off x="9652000" y="1778000"/>
            <a:ext cx="2540000" cy="2540000"/>
          </a:xfrm>
          <a:prstGeom prst="ellipse">
            <a:avLst/>
          </a:prstGeom>
          <a:noFill/>
          <a:ln w="15240" cap="flat" cmpd="sng" algn="ctr">
            <a:solidFill>
              <a:srgbClr val="B2DFD2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E62B9-E52D-66FA-AD17-6F4E2F80FAE8}"/>
              </a:ext>
            </a:extLst>
          </p:cNvPr>
          <p:cNvSpPr/>
          <p:nvPr/>
        </p:nvSpPr>
        <p:spPr>
          <a:xfrm>
            <a:off x="685800" y="571500"/>
            <a:ext cx="584200" cy="584200"/>
          </a:xfrm>
          <a:prstGeom prst="roundRect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E2469-2B78-46C2-7109-0DBE805E0056}"/>
              </a:ext>
            </a:extLst>
          </p:cNvPr>
          <p:cNvSpPr txBox="1"/>
          <p:nvPr/>
        </p:nvSpPr>
        <p:spPr>
          <a:xfrm>
            <a:off x="685800" y="617666"/>
            <a:ext cx="584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FA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E7DE2-B1C1-3417-B04E-346EF411C569}"/>
              </a:ext>
            </a:extLst>
          </p:cNvPr>
          <p:cNvSpPr txBox="1"/>
          <p:nvPr/>
        </p:nvSpPr>
        <p:spPr>
          <a:xfrm>
            <a:off x="1422400" y="6223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B7CFC7"/>
                </a:solidFill>
                <a:latin typeface="Aptos" panose="020B0004020202020204" pitchFamily="34" charset="0"/>
              </a:rPr>
              <a:t>FACIAL ATTENDANCE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B505CB-7D54-1640-3104-4910A17E26E5}"/>
              </a:ext>
            </a:extLst>
          </p:cNvPr>
          <p:cNvSpPr txBox="1"/>
          <p:nvPr/>
        </p:nvSpPr>
        <p:spPr>
          <a:xfrm>
            <a:off x="1422400" y="876300"/>
            <a:ext cx="330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75988D"/>
                </a:solidFill>
                <a:latin typeface="Aptos" panose="020B0004020202020204" pitchFamily="34" charset="0"/>
              </a:rPr>
              <a:t>WORKFORCE OPERATIONS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5D5A6-0435-CF2B-B8C6-A576027D2765}"/>
              </a:ext>
            </a:extLst>
          </p:cNvPr>
          <p:cNvSpPr txBox="1"/>
          <p:nvPr/>
        </p:nvSpPr>
        <p:spPr>
          <a:xfrm>
            <a:off x="685800" y="1905000"/>
            <a:ext cx="7112000" cy="11695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800" b="1">
                <a:solidFill>
                  <a:srgbClr val="FFFFFF"/>
                </a:solidFill>
                <a:latin typeface="Aptos Display" panose="020B0004020202020204" pitchFamily="34" charset="0"/>
              </a:rPr>
              <a:t>Digital Facial
Attendance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D46490-95A5-62A8-1655-9C709FF2FE17}"/>
              </a:ext>
            </a:extLst>
          </p:cNvPr>
          <p:cNvSpPr txBox="1"/>
          <p:nvPr/>
        </p:nvSpPr>
        <p:spPr>
          <a:xfrm>
            <a:off x="711200" y="3733800"/>
            <a:ext cx="6477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500">
                <a:solidFill>
                  <a:srgbClr val="C6D8D2"/>
                </a:solidFill>
                <a:latin typeface="Aptos" panose="020B0004020202020204" pitchFamily="34" charset="0"/>
              </a:rPr>
              <a:t>A secure, camera-powered attendance workspace for employee enrollment, daily recognition, policy decisions, and controlled reporting.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DDC9AE1-557A-F24A-02F8-93697D0B71AC}"/>
              </a:ext>
            </a:extLst>
          </p:cNvPr>
          <p:cNvSpPr/>
          <p:nvPr/>
        </p:nvSpPr>
        <p:spPr>
          <a:xfrm>
            <a:off x="711200" y="5016500"/>
            <a:ext cx="2603500" cy="431800"/>
          </a:xfrm>
          <a:prstGeom prst="roundRect">
            <a:avLst/>
          </a:prstGeom>
          <a:solidFill>
            <a:srgbClr val="213E35"/>
          </a:solidFill>
          <a:ln w="10160">
            <a:solidFill>
              <a:srgbClr val="3C5B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EF7677-5E8A-4DBF-F516-A79F7C247E32}"/>
              </a:ext>
            </a:extLst>
          </p:cNvPr>
          <p:cNvSpPr txBox="1"/>
          <p:nvPr/>
        </p:nvSpPr>
        <p:spPr>
          <a:xfrm>
            <a:off x="889000" y="5085750"/>
            <a:ext cx="2260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D0E4DD"/>
                </a:solidFill>
                <a:latin typeface="Aptos" panose="020B0004020202020204" pitchFamily="34" charset="0"/>
              </a:rPr>
              <a:t>CLIENT SOLUTION OVERVIEW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68360A-39DF-7B79-6F64-464622378F83}"/>
              </a:ext>
            </a:extLst>
          </p:cNvPr>
          <p:cNvSpPr txBox="1"/>
          <p:nvPr/>
        </p:nvSpPr>
        <p:spPr>
          <a:xfrm>
            <a:off x="711200" y="6057900"/>
            <a:ext cx="4572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>
                <a:solidFill>
                  <a:srgbClr val="82A096"/>
                </a:solidFill>
                <a:latin typeface="Aptos" panose="020B0004020202020204" pitchFamily="34" charset="0"/>
              </a:rPr>
              <a:t>Prepared for client review | July 2026</a:t>
            </a:r>
          </a:p>
        </p:txBody>
      </p:sp>
    </p:spTree>
    <p:extLst>
      <p:ext uri="{BB962C8B-B14F-4D97-AF65-F5344CB8AC3E}">
        <p14:creationId xmlns:p14="http://schemas.microsoft.com/office/powerpoint/2010/main" val="3710677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F31DBA-4786-704D-E0EC-91169FFDB528}"/>
              </a:ext>
            </a:extLst>
          </p:cNvPr>
          <p:cNvSpPr txBox="1"/>
          <p:nvPr/>
        </p:nvSpPr>
        <p:spPr>
          <a:xfrm>
            <a:off x="609600" y="4064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176C58"/>
                </a:solidFill>
                <a:latin typeface="Aptos" panose="020B0004020202020204" pitchFamily="34" charset="0"/>
              </a:rPr>
              <a:t>01 / EXECUTIVE SNAPSHOT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9A451B-3B63-9F13-BBD9-E4B68512268F}"/>
              </a:ext>
            </a:extLst>
          </p:cNvPr>
          <p:cNvSpPr txBox="1"/>
          <p:nvPr/>
        </p:nvSpPr>
        <p:spPr>
          <a:xfrm>
            <a:off x="609600" y="736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7211E"/>
                </a:solidFill>
                <a:latin typeface="Aptos Display" panose="020B0004020202020204" pitchFamily="34" charset="0"/>
              </a:rPr>
              <a:t>A simpler way to manage daily attendance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60F4E1-2B84-65D5-07C0-16ACE77B3EC8}"/>
              </a:ext>
            </a:extLst>
          </p:cNvPr>
          <p:cNvSpPr txBox="1"/>
          <p:nvPr/>
        </p:nvSpPr>
        <p:spPr>
          <a:xfrm>
            <a:off x="609600" y="1320800"/>
            <a:ext cx="10033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60716A"/>
                </a:solidFill>
                <a:latin typeface="Aptos" panose="020B0004020202020204" pitchFamily="34" charset="0"/>
              </a:rPr>
              <a:t>One focused application brings recognition, records, policy rules, and admin decisions together.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4D881F-A08E-2454-0F7D-EF036DC942F6}"/>
              </a:ext>
            </a:extLst>
          </p:cNvPr>
          <p:cNvSpPr/>
          <p:nvPr/>
        </p:nvSpPr>
        <p:spPr>
          <a:xfrm>
            <a:off x="609600" y="2006600"/>
            <a:ext cx="2590800" cy="355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63A1BC8-AE20-3840-0A49-C7636CD849FD}"/>
              </a:ext>
            </a:extLst>
          </p:cNvPr>
          <p:cNvSpPr/>
          <p:nvPr/>
        </p:nvSpPr>
        <p:spPr>
          <a:xfrm>
            <a:off x="838200" y="2222500"/>
            <a:ext cx="431800" cy="4318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DB3C8-69A7-1B3A-3096-344E5D116954}"/>
              </a:ext>
            </a:extLst>
          </p:cNvPr>
          <p:cNvSpPr txBox="1"/>
          <p:nvPr/>
        </p:nvSpPr>
        <p:spPr>
          <a:xfrm>
            <a:off x="838200" y="2794000"/>
            <a:ext cx="2133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00" b="1">
                <a:solidFill>
                  <a:srgbClr val="17211E"/>
                </a:solidFill>
                <a:latin typeface="Aptos" panose="020B0004020202020204" pitchFamily="34" charset="0"/>
              </a:rPr>
              <a:t>Faster attendance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534040-5BBE-A30F-B0EE-25408548AA53}"/>
              </a:ext>
            </a:extLst>
          </p:cNvPr>
          <p:cNvSpPr txBox="1"/>
          <p:nvPr/>
        </p:nvSpPr>
        <p:spPr>
          <a:xfrm>
            <a:off x="838200" y="3175000"/>
            <a:ext cx="2133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0716A"/>
                </a:solidFill>
                <a:latin typeface="Aptos" panose="020B0004020202020204" pitchFamily="34" charset="0"/>
              </a:rPr>
              <a:t>Employees are recognized from a connected camera, reducing repetitive manual entry at the attendance point.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1DD06F-0FD1-27E7-171B-E415C32A16A8}"/>
              </a:ext>
            </a:extLst>
          </p:cNvPr>
          <p:cNvSpPr/>
          <p:nvPr/>
        </p:nvSpPr>
        <p:spPr>
          <a:xfrm>
            <a:off x="3403600" y="2006600"/>
            <a:ext cx="2590800" cy="355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E6857A7-C3F3-FB17-14FC-65955479E3EB}"/>
              </a:ext>
            </a:extLst>
          </p:cNvPr>
          <p:cNvSpPr/>
          <p:nvPr/>
        </p:nvSpPr>
        <p:spPr>
          <a:xfrm>
            <a:off x="3632200" y="2222500"/>
            <a:ext cx="431800" cy="431800"/>
          </a:xfrm>
          <a:prstGeom prst="ellipse">
            <a:avLst/>
          </a:prstGeom>
          <a:solidFill>
            <a:srgbClr val="286A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9E8624-FE30-3F4C-CEAF-D3CCF5E302FA}"/>
              </a:ext>
            </a:extLst>
          </p:cNvPr>
          <p:cNvSpPr txBox="1"/>
          <p:nvPr/>
        </p:nvSpPr>
        <p:spPr>
          <a:xfrm>
            <a:off x="3632200" y="2794000"/>
            <a:ext cx="2133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00" b="1">
                <a:solidFill>
                  <a:srgbClr val="17211E"/>
                </a:solidFill>
                <a:latin typeface="Aptos" panose="020B0004020202020204" pitchFamily="34" charset="0"/>
              </a:rPr>
              <a:t>Clear decisions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6C59FD-9F2D-FE8D-6731-65C611744E43}"/>
              </a:ext>
            </a:extLst>
          </p:cNvPr>
          <p:cNvSpPr txBox="1"/>
          <p:nvPr/>
        </p:nvSpPr>
        <p:spPr>
          <a:xfrm>
            <a:off x="3632200" y="3175000"/>
            <a:ext cx="2133600" cy="4847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0716A"/>
                </a:solidFill>
                <a:latin typeface="Aptos" panose="020B0004020202020204" pitchFamily="34" charset="0"/>
              </a:rPr>
              <a:t>Daily status, short-day review, and overtime are calculated from consistent, visible business rules.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8AFFAD-C8FB-F08D-7AFA-84C03FCBC54E}"/>
              </a:ext>
            </a:extLst>
          </p:cNvPr>
          <p:cNvSpPr/>
          <p:nvPr/>
        </p:nvSpPr>
        <p:spPr>
          <a:xfrm>
            <a:off x="6197600" y="2006600"/>
            <a:ext cx="2590800" cy="355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2DBAAB3-797E-5341-D502-30C3450252A1}"/>
              </a:ext>
            </a:extLst>
          </p:cNvPr>
          <p:cNvSpPr/>
          <p:nvPr/>
        </p:nvSpPr>
        <p:spPr>
          <a:xfrm>
            <a:off x="6426200" y="2222500"/>
            <a:ext cx="431800" cy="431800"/>
          </a:xfrm>
          <a:prstGeom prst="ellipse">
            <a:avLst/>
          </a:prstGeom>
          <a:solidFill>
            <a:srgbClr val="B8701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B1BD14-D503-0B64-7032-51A0E98F1936}"/>
              </a:ext>
            </a:extLst>
          </p:cNvPr>
          <p:cNvSpPr txBox="1"/>
          <p:nvPr/>
        </p:nvSpPr>
        <p:spPr>
          <a:xfrm>
            <a:off x="6426200" y="2794000"/>
            <a:ext cx="2133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00" b="1">
                <a:solidFill>
                  <a:srgbClr val="17211E"/>
                </a:solidFill>
                <a:latin typeface="Aptos" panose="020B0004020202020204" pitchFamily="34" charset="0"/>
              </a:rPr>
              <a:t>Controlled access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FD753E-529B-68A0-ECA6-1520A49D383A}"/>
              </a:ext>
            </a:extLst>
          </p:cNvPr>
          <p:cNvSpPr txBox="1"/>
          <p:nvPr/>
        </p:nvSpPr>
        <p:spPr>
          <a:xfrm>
            <a:off x="6426200" y="3175000"/>
            <a:ext cx="2133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0716A"/>
                </a:solidFill>
                <a:latin typeface="Aptos" panose="020B0004020202020204" pitchFamily="34" charset="0"/>
              </a:rPr>
              <a:t>Admin and standard-user roles separate daily scanning from sensitive employee and policy controls.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18D3A6C-0CE9-7795-1B11-9128B98D4212}"/>
              </a:ext>
            </a:extLst>
          </p:cNvPr>
          <p:cNvSpPr/>
          <p:nvPr/>
        </p:nvSpPr>
        <p:spPr>
          <a:xfrm>
            <a:off x="8991600" y="2006600"/>
            <a:ext cx="2590800" cy="355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BE6B6EF-6557-E635-3D2C-5C8E52DAA79D}"/>
              </a:ext>
            </a:extLst>
          </p:cNvPr>
          <p:cNvSpPr/>
          <p:nvPr/>
        </p:nvSpPr>
        <p:spPr>
          <a:xfrm>
            <a:off x="9220200" y="2222500"/>
            <a:ext cx="431800" cy="431800"/>
          </a:xfrm>
          <a:prstGeom prst="ellipse">
            <a:avLst/>
          </a:prstGeom>
          <a:solidFill>
            <a:srgbClr val="1152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5FE343-A530-91FE-FB10-4A8A42161552}"/>
              </a:ext>
            </a:extLst>
          </p:cNvPr>
          <p:cNvSpPr txBox="1"/>
          <p:nvPr/>
        </p:nvSpPr>
        <p:spPr>
          <a:xfrm>
            <a:off x="9220200" y="2794000"/>
            <a:ext cx="2133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00" b="1">
                <a:solidFill>
                  <a:srgbClr val="17211E"/>
                </a:solidFill>
                <a:latin typeface="Aptos" panose="020B0004020202020204" pitchFamily="34" charset="0"/>
              </a:rPr>
              <a:t>Local data ownership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8221C0-DB8C-1342-E32F-8D72AC2BA588}"/>
              </a:ext>
            </a:extLst>
          </p:cNvPr>
          <p:cNvSpPr txBox="1"/>
          <p:nvPr/>
        </p:nvSpPr>
        <p:spPr>
          <a:xfrm>
            <a:off x="9220200" y="3175000"/>
            <a:ext cx="2133600" cy="4847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0716A"/>
                </a:solidFill>
                <a:latin typeface="Aptos" panose="020B0004020202020204" pitchFamily="34" charset="0"/>
              </a:rPr>
              <a:t>Employees, users, settings, attendance, and decisions remain in a client-controlled Excel workbook.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A39D40F-BED0-3596-F6F2-3662D530D3F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FFCCB4F-3CDB-AD64-F0D2-41C0FE7258DD}"/>
              </a:ext>
            </a:extLst>
          </p:cNvPr>
          <p:cNvSpPr txBox="1"/>
          <p:nvPr/>
        </p:nvSpPr>
        <p:spPr>
          <a:xfrm>
            <a:off x="609600" y="6540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DIGITAL ATTENDANCE | CLIENT PRESENTATION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5DBB84-E87C-3936-7A03-8A152BA9A2AF}"/>
              </a:ext>
            </a:extLst>
          </p:cNvPr>
          <p:cNvSpPr txBox="1"/>
          <p:nvPr/>
        </p:nvSpPr>
        <p:spPr>
          <a:xfrm>
            <a:off x="10922000" y="6540500"/>
            <a:ext cx="660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31018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637B7A-156F-DB98-0E12-66626A06F616}"/>
              </a:ext>
            </a:extLst>
          </p:cNvPr>
          <p:cNvSpPr txBox="1"/>
          <p:nvPr/>
        </p:nvSpPr>
        <p:spPr>
          <a:xfrm>
            <a:off x="609600" y="4064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176C58"/>
                </a:solidFill>
                <a:latin typeface="Aptos" panose="020B0004020202020204" pitchFamily="34" charset="0"/>
              </a:rPr>
              <a:t>02 / PRODUCT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DDBD5E-864A-EA60-DE93-785E6886FFF9}"/>
              </a:ext>
            </a:extLst>
          </p:cNvPr>
          <p:cNvSpPr txBox="1"/>
          <p:nvPr/>
        </p:nvSpPr>
        <p:spPr>
          <a:xfrm>
            <a:off x="609600" y="736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7211E"/>
                </a:solidFill>
                <a:latin typeface="Aptos Display" panose="020B0004020202020204" pitchFamily="34" charset="0"/>
              </a:rPr>
              <a:t>One system, from enrollment to final decision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4534E-875F-B004-4D6C-E924687027BD}"/>
              </a:ext>
            </a:extLst>
          </p:cNvPr>
          <p:cNvSpPr txBox="1"/>
          <p:nvPr/>
        </p:nvSpPr>
        <p:spPr>
          <a:xfrm>
            <a:off x="609600" y="1320800"/>
            <a:ext cx="10033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60716A"/>
                </a:solidFill>
                <a:latin typeface="Aptos" panose="020B0004020202020204" pitchFamily="34" charset="0"/>
              </a:rPr>
              <a:t>The workflow keeps daily operations simple while preserving admin control over exceptions.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F2E36B-40E9-88EA-090C-A0F17694876D}"/>
              </a:ext>
            </a:extLst>
          </p:cNvPr>
          <p:cNvCxnSpPr/>
          <p:nvPr/>
        </p:nvCxnSpPr>
        <p:spPr>
          <a:xfrm>
            <a:off x="2362200" y="3251200"/>
            <a:ext cx="444500" cy="0"/>
          </a:xfrm>
          <a:prstGeom prst="line">
            <a:avLst/>
          </a:prstGeom>
          <a:ln w="25400">
            <a:solidFill>
              <a:srgbClr val="DCE4D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7D463DA0-D957-29C0-8C99-0C2A0EB3FCAF}"/>
              </a:ext>
            </a:extLst>
          </p:cNvPr>
          <p:cNvSpPr/>
          <p:nvPr/>
        </p:nvSpPr>
        <p:spPr>
          <a:xfrm>
            <a:off x="1181100" y="2387600"/>
            <a:ext cx="711200" cy="7112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A00EC-678A-3939-8306-6491FF8D706E}"/>
              </a:ext>
            </a:extLst>
          </p:cNvPr>
          <p:cNvSpPr txBox="1"/>
          <p:nvPr/>
        </p:nvSpPr>
        <p:spPr>
          <a:xfrm>
            <a:off x="609600" y="3429000"/>
            <a:ext cx="1854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300" b="1">
                <a:solidFill>
                  <a:srgbClr val="17211E"/>
                </a:solidFill>
                <a:latin typeface="Aptos" panose="020B0004020202020204" pitchFamily="34" charset="0"/>
              </a:rPr>
              <a:t>Create employee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7FE5CD-1DDE-90EA-5864-71E3FBE3F754}"/>
              </a:ext>
            </a:extLst>
          </p:cNvPr>
          <p:cNvSpPr txBox="1"/>
          <p:nvPr/>
        </p:nvSpPr>
        <p:spPr>
          <a:xfrm>
            <a:off x="609600" y="3860800"/>
            <a:ext cx="18542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60716A"/>
                </a:solidFill>
                <a:latin typeface="Aptos" panose="020B0004020202020204" pitchFamily="34" charset="0"/>
              </a:rPr>
              <a:t>Code, name, department, and active status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AC14077-C009-BE43-51A7-2E117D619AC4}"/>
              </a:ext>
            </a:extLst>
          </p:cNvPr>
          <p:cNvCxnSpPr/>
          <p:nvPr/>
        </p:nvCxnSpPr>
        <p:spPr>
          <a:xfrm>
            <a:off x="4572000" y="3251200"/>
            <a:ext cx="444500" cy="0"/>
          </a:xfrm>
          <a:prstGeom prst="line">
            <a:avLst/>
          </a:prstGeom>
          <a:ln w="25400">
            <a:solidFill>
              <a:srgbClr val="DCE4D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C6711CB-EAE6-8303-1AD1-9B6CFA005403}"/>
              </a:ext>
            </a:extLst>
          </p:cNvPr>
          <p:cNvSpPr/>
          <p:nvPr/>
        </p:nvSpPr>
        <p:spPr>
          <a:xfrm>
            <a:off x="3390900" y="2387600"/>
            <a:ext cx="711200" cy="711200"/>
          </a:xfrm>
          <a:prstGeom prst="ellipse">
            <a:avLst/>
          </a:prstGeom>
          <a:solidFill>
            <a:srgbClr val="286A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CDF90A-F650-AE22-23E2-72D88D66DC41}"/>
              </a:ext>
            </a:extLst>
          </p:cNvPr>
          <p:cNvSpPr txBox="1"/>
          <p:nvPr/>
        </p:nvSpPr>
        <p:spPr>
          <a:xfrm>
            <a:off x="2819400" y="3429000"/>
            <a:ext cx="1854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300" b="1">
                <a:solidFill>
                  <a:srgbClr val="17211E"/>
                </a:solidFill>
                <a:latin typeface="Aptos" panose="020B0004020202020204" pitchFamily="34" charset="0"/>
              </a:rPr>
              <a:t>Register face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336E7D-882B-1FC0-93B4-36F2EB9B1A00}"/>
              </a:ext>
            </a:extLst>
          </p:cNvPr>
          <p:cNvSpPr txBox="1"/>
          <p:nvPr/>
        </p:nvSpPr>
        <p:spPr>
          <a:xfrm>
            <a:off x="2819400" y="3860800"/>
            <a:ext cx="18542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60716A"/>
                </a:solidFill>
                <a:latin typeface="Aptos" panose="020B0004020202020204" pitchFamily="34" charset="0"/>
              </a:rPr>
              <a:t>Capture one clear face from the system camera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808DBA-39A7-7D35-12FE-BDFF7F2B8E59}"/>
              </a:ext>
            </a:extLst>
          </p:cNvPr>
          <p:cNvCxnSpPr/>
          <p:nvPr/>
        </p:nvCxnSpPr>
        <p:spPr>
          <a:xfrm>
            <a:off x="6781800" y="3251200"/>
            <a:ext cx="444500" cy="0"/>
          </a:xfrm>
          <a:prstGeom prst="line">
            <a:avLst/>
          </a:prstGeom>
          <a:ln w="25400">
            <a:solidFill>
              <a:srgbClr val="DCE4D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82C93436-5DAC-1E58-7F6B-2E9C99E63CB9}"/>
              </a:ext>
            </a:extLst>
          </p:cNvPr>
          <p:cNvSpPr/>
          <p:nvPr/>
        </p:nvSpPr>
        <p:spPr>
          <a:xfrm>
            <a:off x="5600700" y="2387600"/>
            <a:ext cx="711200" cy="7112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DC149D-CF25-1498-A4A3-4DBF9152DADA}"/>
              </a:ext>
            </a:extLst>
          </p:cNvPr>
          <p:cNvSpPr txBox="1"/>
          <p:nvPr/>
        </p:nvSpPr>
        <p:spPr>
          <a:xfrm>
            <a:off x="5029200" y="3429000"/>
            <a:ext cx="1854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300" b="1">
                <a:solidFill>
                  <a:srgbClr val="17211E"/>
                </a:solidFill>
                <a:latin typeface="Aptos" panose="020B0004020202020204" pitchFamily="34" charset="0"/>
              </a:rPr>
              <a:t>Recognize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536183-A464-832A-685C-B0DB9AC27FB5}"/>
              </a:ext>
            </a:extLst>
          </p:cNvPr>
          <p:cNvSpPr txBox="1"/>
          <p:nvPr/>
        </p:nvSpPr>
        <p:spPr>
          <a:xfrm>
            <a:off x="5029200" y="3860800"/>
            <a:ext cx="18542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60716A"/>
                </a:solidFill>
                <a:latin typeface="Aptos" panose="020B0004020202020204" pitchFamily="34" charset="0"/>
              </a:rPr>
              <a:t>Continuously scan active registered employees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17A0EE1-AA8D-D063-2E1E-AFC223784E08}"/>
              </a:ext>
            </a:extLst>
          </p:cNvPr>
          <p:cNvCxnSpPr/>
          <p:nvPr/>
        </p:nvCxnSpPr>
        <p:spPr>
          <a:xfrm>
            <a:off x="8991600" y="3251200"/>
            <a:ext cx="444500" cy="0"/>
          </a:xfrm>
          <a:prstGeom prst="line">
            <a:avLst/>
          </a:prstGeom>
          <a:ln w="25400">
            <a:solidFill>
              <a:srgbClr val="DCE4D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D36EA03-CDC9-E648-9461-9792605B8C8C}"/>
              </a:ext>
            </a:extLst>
          </p:cNvPr>
          <p:cNvSpPr/>
          <p:nvPr/>
        </p:nvSpPr>
        <p:spPr>
          <a:xfrm>
            <a:off x="7810500" y="2387600"/>
            <a:ext cx="711200" cy="711200"/>
          </a:xfrm>
          <a:prstGeom prst="ellipse">
            <a:avLst/>
          </a:prstGeom>
          <a:solidFill>
            <a:srgbClr val="B8701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44136A-9F97-B229-4C88-E2B6307D19D2}"/>
              </a:ext>
            </a:extLst>
          </p:cNvPr>
          <p:cNvSpPr txBox="1"/>
          <p:nvPr/>
        </p:nvSpPr>
        <p:spPr>
          <a:xfrm>
            <a:off x="7239000" y="3429000"/>
            <a:ext cx="1854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300" b="1">
                <a:solidFill>
                  <a:srgbClr val="17211E"/>
                </a:solidFill>
                <a:latin typeface="Aptos" panose="020B0004020202020204" pitchFamily="34" charset="0"/>
              </a:rPr>
              <a:t>Calculate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B33F3B-9F8D-8E11-4070-CA10F3CF3127}"/>
              </a:ext>
            </a:extLst>
          </p:cNvPr>
          <p:cNvSpPr txBox="1"/>
          <p:nvPr/>
        </p:nvSpPr>
        <p:spPr>
          <a:xfrm>
            <a:off x="7239000" y="3860800"/>
            <a:ext cx="18542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60716A"/>
                </a:solidFill>
                <a:latin typeface="Aptos" panose="020B0004020202020204" pitchFamily="34" charset="0"/>
              </a:rPr>
              <a:t>Duration, status, and overtime are derived daily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9B8C210-12E3-BEF6-D956-5FF178C8F0BB}"/>
              </a:ext>
            </a:extLst>
          </p:cNvPr>
          <p:cNvSpPr/>
          <p:nvPr/>
        </p:nvSpPr>
        <p:spPr>
          <a:xfrm>
            <a:off x="10020300" y="2387600"/>
            <a:ext cx="711200" cy="711200"/>
          </a:xfrm>
          <a:prstGeom prst="ellipse">
            <a:avLst/>
          </a:prstGeom>
          <a:solidFill>
            <a:srgbClr val="B33D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E10C06-0727-4768-38A3-C4C945DD5095}"/>
              </a:ext>
            </a:extLst>
          </p:cNvPr>
          <p:cNvSpPr txBox="1"/>
          <p:nvPr/>
        </p:nvSpPr>
        <p:spPr>
          <a:xfrm>
            <a:off x="9448800" y="3429000"/>
            <a:ext cx="1854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300" b="1">
                <a:solidFill>
                  <a:srgbClr val="17211E"/>
                </a:solidFill>
                <a:latin typeface="Aptos" panose="020B0004020202020204" pitchFamily="34" charset="0"/>
              </a:rPr>
              <a:t>Review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8DCC5F-DECC-5F44-F825-4558310B0320}"/>
              </a:ext>
            </a:extLst>
          </p:cNvPr>
          <p:cNvSpPr txBox="1"/>
          <p:nvPr/>
        </p:nvSpPr>
        <p:spPr>
          <a:xfrm>
            <a:off x="9448800" y="3860800"/>
            <a:ext cx="18542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60716A"/>
                </a:solidFill>
                <a:latin typeface="Aptos" panose="020B0004020202020204" pitchFamily="34" charset="0"/>
              </a:rPr>
              <a:t>Admin finalizes short or incomplete days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EEB6A67-76AD-2FAB-B44A-9F21F49A2EBD}"/>
              </a:ext>
            </a:extLst>
          </p:cNvPr>
          <p:cNvSpPr/>
          <p:nvPr/>
        </p:nvSpPr>
        <p:spPr>
          <a:xfrm>
            <a:off x="2108200" y="5143500"/>
            <a:ext cx="7975600" cy="660400"/>
          </a:xfrm>
          <a:prstGeom prst="roundRect">
            <a:avLst/>
          </a:prstGeom>
          <a:solidFill>
            <a:srgbClr val="E4F2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B64DD9-180A-1416-636C-CB2C2471D004}"/>
              </a:ext>
            </a:extLst>
          </p:cNvPr>
          <p:cNvSpPr txBox="1"/>
          <p:nvPr/>
        </p:nvSpPr>
        <p:spPr>
          <a:xfrm>
            <a:off x="2413000" y="5189667"/>
            <a:ext cx="7366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115244"/>
                </a:solidFill>
                <a:latin typeface="Aptos" panose="020B0004020202020204" pitchFamily="34" charset="0"/>
              </a:rPr>
              <a:t>Result: a traceable attendance day with clear ownership of every exception.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B19793-37F5-B67D-2399-E8AD07F57586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A16F22F-9ED1-B278-D52C-4BF35973AB4E}"/>
              </a:ext>
            </a:extLst>
          </p:cNvPr>
          <p:cNvSpPr txBox="1"/>
          <p:nvPr/>
        </p:nvSpPr>
        <p:spPr>
          <a:xfrm>
            <a:off x="609600" y="6540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DIGITAL ATTENDANCE | CLIENT PRESENTATION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7EADCF-72F2-9BC5-A045-4AC5F60CF14C}"/>
              </a:ext>
            </a:extLst>
          </p:cNvPr>
          <p:cNvSpPr txBox="1"/>
          <p:nvPr/>
        </p:nvSpPr>
        <p:spPr>
          <a:xfrm>
            <a:off x="10922000" y="6540500"/>
            <a:ext cx="660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42807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6E6EF7-D5A9-5E35-20DE-877EF01E5351}"/>
              </a:ext>
            </a:extLst>
          </p:cNvPr>
          <p:cNvSpPr txBox="1"/>
          <p:nvPr/>
        </p:nvSpPr>
        <p:spPr>
          <a:xfrm>
            <a:off x="609600" y="4064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176C58"/>
                </a:solidFill>
                <a:latin typeface="Aptos" panose="020B0004020202020204" pitchFamily="34" charset="0"/>
              </a:rPr>
              <a:t>03 / OPERATIONS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5165CB-8C92-DAC4-1B15-950D7547662F}"/>
              </a:ext>
            </a:extLst>
          </p:cNvPr>
          <p:cNvSpPr txBox="1"/>
          <p:nvPr/>
        </p:nvSpPr>
        <p:spPr>
          <a:xfrm>
            <a:off x="609600" y="736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7211E"/>
                </a:solidFill>
                <a:latin typeface="Aptos Display" panose="020B0004020202020204" pitchFamily="34" charset="0"/>
              </a:rPr>
              <a:t>Designed for action, not just reporting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EC4F6E-7F66-7158-22C4-E53B683792E6}"/>
              </a:ext>
            </a:extLst>
          </p:cNvPr>
          <p:cNvSpPr/>
          <p:nvPr/>
        </p:nvSpPr>
        <p:spPr>
          <a:xfrm>
            <a:off x="635000" y="2209800"/>
            <a:ext cx="127000" cy="1270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008AF-D700-FEAF-DCC4-D00DEBD5D809}"/>
              </a:ext>
            </a:extLst>
          </p:cNvPr>
          <p:cNvSpPr txBox="1"/>
          <p:nvPr/>
        </p:nvSpPr>
        <p:spPr>
          <a:xfrm>
            <a:off x="914400" y="2159000"/>
            <a:ext cx="3352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 b="1">
                <a:solidFill>
                  <a:srgbClr val="17211E"/>
                </a:solidFill>
                <a:latin typeface="Aptos" panose="020B0004020202020204" pitchFamily="34" charset="0"/>
              </a:rPr>
              <a:t>Immediate visibility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98F3F8-B965-068E-D05E-7D55CA4A7818}"/>
              </a:ext>
            </a:extLst>
          </p:cNvPr>
          <p:cNvSpPr txBox="1"/>
          <p:nvPr/>
        </p:nvSpPr>
        <p:spPr>
          <a:xfrm>
            <a:off x="914400" y="2463800"/>
            <a:ext cx="33528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0716A"/>
                </a:solidFill>
                <a:latin typeface="Aptos" panose="020B0004020202020204" pitchFamily="34" charset="0"/>
              </a:rPr>
              <a:t>Six concise indicators show workforce readiness, attendance outcomes, and pending review.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E47B4E-7BCE-4D3B-16CE-C4EF402E79B9}"/>
              </a:ext>
            </a:extLst>
          </p:cNvPr>
          <p:cNvSpPr/>
          <p:nvPr/>
        </p:nvSpPr>
        <p:spPr>
          <a:xfrm>
            <a:off x="635000" y="3352800"/>
            <a:ext cx="127000" cy="127000"/>
          </a:xfrm>
          <a:prstGeom prst="ellipse">
            <a:avLst/>
          </a:prstGeom>
          <a:solidFill>
            <a:srgbClr val="286A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06BA3-7195-57A6-D61E-9FB24806E042}"/>
              </a:ext>
            </a:extLst>
          </p:cNvPr>
          <p:cNvSpPr txBox="1"/>
          <p:nvPr/>
        </p:nvSpPr>
        <p:spPr>
          <a:xfrm>
            <a:off x="914400" y="3302000"/>
            <a:ext cx="3352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 b="1">
                <a:solidFill>
                  <a:srgbClr val="17211E"/>
                </a:solidFill>
                <a:latin typeface="Aptos" panose="020B0004020202020204" pitchFamily="34" charset="0"/>
              </a:rPr>
              <a:t>Fast access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C7C9AF-67FB-6524-3421-FFEF8A14AADC}"/>
              </a:ext>
            </a:extLst>
          </p:cNvPr>
          <p:cNvSpPr txBox="1"/>
          <p:nvPr/>
        </p:nvSpPr>
        <p:spPr>
          <a:xfrm>
            <a:off x="914400" y="3606800"/>
            <a:ext cx="33528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0716A"/>
                </a:solidFill>
                <a:latin typeface="Aptos" panose="020B0004020202020204" pitchFamily="34" charset="0"/>
              </a:rPr>
              <a:t>Primary scanner and employee-registration actions remain visible without searching through menus.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8945F4-0CA8-5E40-1888-7BF0EC884C9E}"/>
              </a:ext>
            </a:extLst>
          </p:cNvPr>
          <p:cNvSpPr/>
          <p:nvPr/>
        </p:nvSpPr>
        <p:spPr>
          <a:xfrm>
            <a:off x="635000" y="4495800"/>
            <a:ext cx="127000" cy="127000"/>
          </a:xfrm>
          <a:prstGeom prst="ellipse">
            <a:avLst/>
          </a:prstGeom>
          <a:solidFill>
            <a:srgbClr val="B8701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3EA095-E91A-DD55-4529-B2B6F9E086BD}"/>
              </a:ext>
            </a:extLst>
          </p:cNvPr>
          <p:cNvSpPr txBox="1"/>
          <p:nvPr/>
        </p:nvSpPr>
        <p:spPr>
          <a:xfrm>
            <a:off x="914400" y="4445000"/>
            <a:ext cx="3352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 b="1">
                <a:solidFill>
                  <a:srgbClr val="17211E"/>
                </a:solidFill>
                <a:latin typeface="Aptos" panose="020B0004020202020204" pitchFamily="34" charset="0"/>
              </a:rPr>
              <a:t>Exception focus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E15EA6-F7A2-4B5A-B0FB-9BDD1E2440DE}"/>
              </a:ext>
            </a:extLst>
          </p:cNvPr>
          <p:cNvSpPr txBox="1"/>
          <p:nvPr/>
        </p:nvSpPr>
        <p:spPr>
          <a:xfrm>
            <a:off x="914400" y="4749800"/>
            <a:ext cx="33528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0716A"/>
                </a:solidFill>
                <a:latin typeface="Aptos" panose="020B0004020202020204" pitchFamily="34" charset="0"/>
              </a:rPr>
              <a:t>Today summary and recent activity help admins identify missing scans and resolve short days.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7AF9F9-37B0-4477-D998-246B58CD1517}"/>
              </a:ext>
            </a:extLst>
          </p:cNvPr>
          <p:cNvSpPr/>
          <p:nvPr/>
        </p:nvSpPr>
        <p:spPr>
          <a:xfrm>
            <a:off x="4648200" y="1917700"/>
            <a:ext cx="6934200" cy="41021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55A8957-FB62-6DB6-8706-5A14E8A2296F}"/>
              </a:ext>
            </a:extLst>
          </p:cNvPr>
          <p:cNvSpPr/>
          <p:nvPr/>
        </p:nvSpPr>
        <p:spPr>
          <a:xfrm>
            <a:off x="4648200" y="1917700"/>
            <a:ext cx="1168400" cy="4102100"/>
          </a:xfrm>
          <a:prstGeom prst="roundRect">
            <a:avLst/>
          </a:prstGeom>
          <a:solidFill>
            <a:srgbClr val="1429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661D93-4E80-081A-82D2-6857243C79CC}"/>
              </a:ext>
            </a:extLst>
          </p:cNvPr>
          <p:cNvSpPr/>
          <p:nvPr/>
        </p:nvSpPr>
        <p:spPr>
          <a:xfrm>
            <a:off x="4826000" y="2159000"/>
            <a:ext cx="457200" cy="457200"/>
          </a:xfrm>
          <a:prstGeom prst="roundRect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26E20D-A300-FAC3-ADA5-1515983F2DC5}"/>
              </a:ext>
            </a:extLst>
          </p:cNvPr>
          <p:cNvSpPr txBox="1"/>
          <p:nvPr/>
        </p:nvSpPr>
        <p:spPr>
          <a:xfrm>
            <a:off x="4826000" y="2228250"/>
            <a:ext cx="4572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FA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A7E3713-AA4B-8ABB-93E7-05215B8BC5FF}"/>
              </a:ext>
            </a:extLst>
          </p:cNvPr>
          <p:cNvSpPr/>
          <p:nvPr/>
        </p:nvSpPr>
        <p:spPr>
          <a:xfrm>
            <a:off x="4826000" y="2921000"/>
            <a:ext cx="812800" cy="355600"/>
          </a:xfrm>
          <a:prstGeom prst="roundRect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DB9BA1C-6FB8-BDFF-449E-9B72373E23C1}"/>
              </a:ext>
            </a:extLst>
          </p:cNvPr>
          <p:cNvSpPr/>
          <p:nvPr/>
        </p:nvSpPr>
        <p:spPr>
          <a:xfrm>
            <a:off x="4927600" y="2984500"/>
            <a:ext cx="215900" cy="215900"/>
          </a:xfrm>
          <a:prstGeom prst="ellipse">
            <a:avLst/>
          </a:prstGeom>
          <a:solidFill>
            <a:srgbClr val="486F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4BB45C4-6045-D427-F803-86B45E4EFBB6}"/>
              </a:ext>
            </a:extLst>
          </p:cNvPr>
          <p:cNvSpPr/>
          <p:nvPr/>
        </p:nvSpPr>
        <p:spPr>
          <a:xfrm>
            <a:off x="4826000" y="3403600"/>
            <a:ext cx="812800" cy="355600"/>
          </a:xfrm>
          <a:prstGeom prst="roundRect">
            <a:avLst/>
          </a:prstGeom>
          <a:solidFill>
            <a:srgbClr val="1D37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6303111-B3C5-F4FA-E060-D2FA668D6421}"/>
              </a:ext>
            </a:extLst>
          </p:cNvPr>
          <p:cNvSpPr/>
          <p:nvPr/>
        </p:nvSpPr>
        <p:spPr>
          <a:xfrm>
            <a:off x="4927600" y="3467100"/>
            <a:ext cx="215900" cy="215900"/>
          </a:xfrm>
          <a:prstGeom prst="ellipse">
            <a:avLst/>
          </a:prstGeom>
          <a:solidFill>
            <a:srgbClr val="486F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DF3DD62-70A4-284C-1621-967371C41B98}"/>
              </a:ext>
            </a:extLst>
          </p:cNvPr>
          <p:cNvSpPr/>
          <p:nvPr/>
        </p:nvSpPr>
        <p:spPr>
          <a:xfrm>
            <a:off x="4826000" y="3886200"/>
            <a:ext cx="812800" cy="355600"/>
          </a:xfrm>
          <a:prstGeom prst="roundRect">
            <a:avLst/>
          </a:prstGeom>
          <a:solidFill>
            <a:srgbClr val="1D37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BEEE5F1-3E90-A6FC-0751-EF78DE42B9E2}"/>
              </a:ext>
            </a:extLst>
          </p:cNvPr>
          <p:cNvSpPr/>
          <p:nvPr/>
        </p:nvSpPr>
        <p:spPr>
          <a:xfrm>
            <a:off x="4927600" y="3949700"/>
            <a:ext cx="215900" cy="215900"/>
          </a:xfrm>
          <a:prstGeom prst="ellipse">
            <a:avLst/>
          </a:prstGeom>
          <a:solidFill>
            <a:srgbClr val="486F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29A742C-43F0-D482-1F7B-47DB8802C7C7}"/>
              </a:ext>
            </a:extLst>
          </p:cNvPr>
          <p:cNvSpPr/>
          <p:nvPr/>
        </p:nvSpPr>
        <p:spPr>
          <a:xfrm>
            <a:off x="4826000" y="4368800"/>
            <a:ext cx="812800" cy="355600"/>
          </a:xfrm>
          <a:prstGeom prst="roundRect">
            <a:avLst/>
          </a:prstGeom>
          <a:solidFill>
            <a:srgbClr val="1D37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AF6644D-F4FA-1330-094D-4D44781284DE}"/>
              </a:ext>
            </a:extLst>
          </p:cNvPr>
          <p:cNvSpPr/>
          <p:nvPr/>
        </p:nvSpPr>
        <p:spPr>
          <a:xfrm>
            <a:off x="4927600" y="4432300"/>
            <a:ext cx="215900" cy="215900"/>
          </a:xfrm>
          <a:prstGeom prst="ellipse">
            <a:avLst/>
          </a:prstGeom>
          <a:solidFill>
            <a:srgbClr val="486F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64891EE-CCB3-C33B-5B16-CFE9C68E3060}"/>
              </a:ext>
            </a:extLst>
          </p:cNvPr>
          <p:cNvSpPr/>
          <p:nvPr/>
        </p:nvSpPr>
        <p:spPr>
          <a:xfrm>
            <a:off x="4826000" y="4851400"/>
            <a:ext cx="812800" cy="355600"/>
          </a:xfrm>
          <a:prstGeom prst="roundRect">
            <a:avLst/>
          </a:prstGeom>
          <a:solidFill>
            <a:srgbClr val="1D37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5A2AAEC-130D-8925-5F5A-E31C8EFDE002}"/>
              </a:ext>
            </a:extLst>
          </p:cNvPr>
          <p:cNvSpPr/>
          <p:nvPr/>
        </p:nvSpPr>
        <p:spPr>
          <a:xfrm>
            <a:off x="4927600" y="4914900"/>
            <a:ext cx="215900" cy="215900"/>
          </a:xfrm>
          <a:prstGeom prst="ellipse">
            <a:avLst/>
          </a:prstGeom>
          <a:solidFill>
            <a:srgbClr val="486F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C8E2F2-2D8C-B2DE-63C9-6DA64674C924}"/>
              </a:ext>
            </a:extLst>
          </p:cNvPr>
          <p:cNvSpPr/>
          <p:nvPr/>
        </p:nvSpPr>
        <p:spPr>
          <a:xfrm>
            <a:off x="5816600" y="1917700"/>
            <a:ext cx="5765800" cy="533400"/>
          </a:xfrm>
          <a:prstGeom prst="rect">
            <a:avLst/>
          </a:prstGeom>
          <a:solidFill>
            <a:srgbClr val="F8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3E1484-5684-41FA-ED67-FC73A827A025}"/>
              </a:ext>
            </a:extLst>
          </p:cNvPr>
          <p:cNvSpPr txBox="1"/>
          <p:nvPr/>
        </p:nvSpPr>
        <p:spPr>
          <a:xfrm>
            <a:off x="6019800" y="2057400"/>
            <a:ext cx="1905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17211E"/>
                </a:solidFill>
                <a:latin typeface="Aptos" panose="020B0004020202020204" pitchFamily="34" charset="0"/>
              </a:rPr>
              <a:t>Dashboard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C3A929E-78D1-873A-390C-21192E55CA80}"/>
              </a:ext>
            </a:extLst>
          </p:cNvPr>
          <p:cNvSpPr/>
          <p:nvPr/>
        </p:nvSpPr>
        <p:spPr>
          <a:xfrm>
            <a:off x="6019800" y="2717800"/>
            <a:ext cx="914400" cy="88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93483FB-61DC-9484-405C-6A04A8F654C4}"/>
              </a:ext>
            </a:extLst>
          </p:cNvPr>
          <p:cNvSpPr/>
          <p:nvPr/>
        </p:nvSpPr>
        <p:spPr>
          <a:xfrm>
            <a:off x="6134100" y="2832100"/>
            <a:ext cx="228600" cy="228600"/>
          </a:xfrm>
          <a:prstGeom prst="roundRect">
            <a:avLst/>
          </a:prstGeom>
          <a:solidFill>
            <a:srgbClr val="E4F2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EE12A0-B725-E221-514C-F5809096696E}"/>
              </a:ext>
            </a:extLst>
          </p:cNvPr>
          <p:cNvSpPr txBox="1"/>
          <p:nvPr/>
        </p:nvSpPr>
        <p:spPr>
          <a:xfrm>
            <a:off x="6146800" y="3149600"/>
            <a:ext cx="6858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00" b="1">
                <a:solidFill>
                  <a:srgbClr val="17211E"/>
                </a:solidFill>
                <a:latin typeface="Aptos" panose="020B0004020202020204" pitchFamily="34" charset="0"/>
              </a:rPr>
              <a:t>24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FB38F33-3771-AF10-80C0-E28316D7068B}"/>
              </a:ext>
            </a:extLst>
          </p:cNvPr>
          <p:cNvSpPr/>
          <p:nvPr/>
        </p:nvSpPr>
        <p:spPr>
          <a:xfrm>
            <a:off x="7086600" y="2717800"/>
            <a:ext cx="914400" cy="88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EB4E62E-05B6-0E49-8341-D153F940C6ED}"/>
              </a:ext>
            </a:extLst>
          </p:cNvPr>
          <p:cNvSpPr/>
          <p:nvPr/>
        </p:nvSpPr>
        <p:spPr>
          <a:xfrm>
            <a:off x="7200900" y="2832100"/>
            <a:ext cx="228600" cy="228600"/>
          </a:xfrm>
          <a:prstGeom prst="roundRect">
            <a:avLst/>
          </a:prstGeom>
          <a:solidFill>
            <a:srgbClr val="E7F2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3CE7B9-F3E0-DF7D-1A51-7D7FA448036A}"/>
              </a:ext>
            </a:extLst>
          </p:cNvPr>
          <p:cNvSpPr txBox="1"/>
          <p:nvPr/>
        </p:nvSpPr>
        <p:spPr>
          <a:xfrm>
            <a:off x="7213600" y="3149600"/>
            <a:ext cx="6858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00" b="1">
                <a:solidFill>
                  <a:srgbClr val="17211E"/>
                </a:solidFill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C59B0CF-52F8-B3F4-CE74-B5185066F197}"/>
              </a:ext>
            </a:extLst>
          </p:cNvPr>
          <p:cNvSpPr/>
          <p:nvPr/>
        </p:nvSpPr>
        <p:spPr>
          <a:xfrm>
            <a:off x="8153400" y="2717800"/>
            <a:ext cx="914400" cy="88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AD29E08-1FE1-10C2-BF88-64B7EF78EC35}"/>
              </a:ext>
            </a:extLst>
          </p:cNvPr>
          <p:cNvSpPr/>
          <p:nvPr/>
        </p:nvSpPr>
        <p:spPr>
          <a:xfrm>
            <a:off x="8267700" y="2832100"/>
            <a:ext cx="228600" cy="228600"/>
          </a:xfrm>
          <a:prstGeom prst="roundRect">
            <a:avLst/>
          </a:prstGeom>
          <a:solidFill>
            <a:srgbClr val="E4F2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18E673-9549-C63E-D3EC-51A1301EB35E}"/>
              </a:ext>
            </a:extLst>
          </p:cNvPr>
          <p:cNvSpPr txBox="1"/>
          <p:nvPr/>
        </p:nvSpPr>
        <p:spPr>
          <a:xfrm>
            <a:off x="8280400" y="3149600"/>
            <a:ext cx="6858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00" b="1">
                <a:solidFill>
                  <a:srgbClr val="17211E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5D9D15D-B8C3-D5CE-9D59-0BDB643A6DB9}"/>
              </a:ext>
            </a:extLst>
          </p:cNvPr>
          <p:cNvSpPr/>
          <p:nvPr/>
        </p:nvSpPr>
        <p:spPr>
          <a:xfrm>
            <a:off x="9220200" y="2717800"/>
            <a:ext cx="914400" cy="88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02798DE-41E6-624D-2D37-2407C2E26FC7}"/>
              </a:ext>
            </a:extLst>
          </p:cNvPr>
          <p:cNvSpPr/>
          <p:nvPr/>
        </p:nvSpPr>
        <p:spPr>
          <a:xfrm>
            <a:off x="9334500" y="2832100"/>
            <a:ext cx="228600" cy="228600"/>
          </a:xfrm>
          <a:prstGeom prst="roundRect">
            <a:avLst/>
          </a:prstGeom>
          <a:solidFill>
            <a:srgbClr val="FFF2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77FAEE-4BFC-2817-8ED8-95538B47CBEA}"/>
              </a:ext>
            </a:extLst>
          </p:cNvPr>
          <p:cNvSpPr txBox="1"/>
          <p:nvPr/>
        </p:nvSpPr>
        <p:spPr>
          <a:xfrm>
            <a:off x="9347200" y="3149600"/>
            <a:ext cx="6858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00" b="1">
                <a:solidFill>
                  <a:srgbClr val="17211E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1ED16D8-A1A5-53DD-018A-9597EB10D2E1}"/>
              </a:ext>
            </a:extLst>
          </p:cNvPr>
          <p:cNvSpPr/>
          <p:nvPr/>
        </p:nvSpPr>
        <p:spPr>
          <a:xfrm>
            <a:off x="10287000" y="2717800"/>
            <a:ext cx="914400" cy="88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A333554-5488-0FBD-9A49-E57F4B19A2E7}"/>
              </a:ext>
            </a:extLst>
          </p:cNvPr>
          <p:cNvSpPr/>
          <p:nvPr/>
        </p:nvSpPr>
        <p:spPr>
          <a:xfrm>
            <a:off x="10401300" y="2832100"/>
            <a:ext cx="228600" cy="228600"/>
          </a:xfrm>
          <a:prstGeom prst="roundRect">
            <a:avLst/>
          </a:prstGeom>
          <a:solidFill>
            <a:srgbClr val="FBEA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A8B804-6FEB-7386-BBCD-944540CAEE19}"/>
              </a:ext>
            </a:extLst>
          </p:cNvPr>
          <p:cNvSpPr txBox="1"/>
          <p:nvPr/>
        </p:nvSpPr>
        <p:spPr>
          <a:xfrm>
            <a:off x="10414000" y="3149600"/>
            <a:ext cx="6858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00" b="1">
                <a:solidFill>
                  <a:srgbClr val="17211E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7F1A965-B536-6C5D-9CEF-CD6BA10BC809}"/>
              </a:ext>
            </a:extLst>
          </p:cNvPr>
          <p:cNvSpPr/>
          <p:nvPr/>
        </p:nvSpPr>
        <p:spPr>
          <a:xfrm>
            <a:off x="6019800" y="3822700"/>
            <a:ext cx="3429000" cy="18161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E15134-E737-B702-109B-421D561E60D1}"/>
              </a:ext>
            </a:extLst>
          </p:cNvPr>
          <p:cNvSpPr txBox="1"/>
          <p:nvPr/>
        </p:nvSpPr>
        <p:spPr>
          <a:xfrm>
            <a:off x="6210300" y="4000500"/>
            <a:ext cx="889000" cy="10772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700" b="1">
                <a:solidFill>
                  <a:srgbClr val="176C58"/>
                </a:solidFill>
                <a:latin typeface="Aptos" panose="020B0004020202020204" pitchFamily="34" charset="0"/>
              </a:rPr>
              <a:t>TODAY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B95E76-60DC-1B5B-90F5-909B238D1AFA}"/>
              </a:ext>
            </a:extLst>
          </p:cNvPr>
          <p:cNvSpPr txBox="1"/>
          <p:nvPr/>
        </p:nvSpPr>
        <p:spPr>
          <a:xfrm>
            <a:off x="6210300" y="42291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17211E"/>
                </a:solidFill>
                <a:latin typeface="Aptos" panose="020B0004020202020204" pitchFamily="34" charset="0"/>
              </a:rPr>
              <a:t>Attendance summary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4A9764A-4A8E-3854-97A9-DED4F12E07A3}"/>
              </a:ext>
            </a:extLst>
          </p:cNvPr>
          <p:cNvCxnSpPr/>
          <p:nvPr/>
        </p:nvCxnSpPr>
        <p:spPr>
          <a:xfrm>
            <a:off x="6210300" y="4724400"/>
            <a:ext cx="3035300" cy="0"/>
          </a:xfrm>
          <a:prstGeom prst="line">
            <a:avLst/>
          </a:prstGeom>
          <a:ln w="889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4F85E46-A469-5CC9-292D-98A2671239BA}"/>
              </a:ext>
            </a:extLst>
          </p:cNvPr>
          <p:cNvCxnSpPr/>
          <p:nvPr/>
        </p:nvCxnSpPr>
        <p:spPr>
          <a:xfrm>
            <a:off x="6210300" y="5003800"/>
            <a:ext cx="3035300" cy="0"/>
          </a:xfrm>
          <a:prstGeom prst="line">
            <a:avLst/>
          </a:prstGeom>
          <a:ln w="889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0E6556-28D6-766F-8072-9B442C6E89F2}"/>
              </a:ext>
            </a:extLst>
          </p:cNvPr>
          <p:cNvCxnSpPr/>
          <p:nvPr/>
        </p:nvCxnSpPr>
        <p:spPr>
          <a:xfrm>
            <a:off x="6210300" y="5283200"/>
            <a:ext cx="3035300" cy="0"/>
          </a:xfrm>
          <a:prstGeom prst="line">
            <a:avLst/>
          </a:prstGeom>
          <a:ln w="889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C8CD23E-D820-B558-0137-AB0861392935}"/>
              </a:ext>
            </a:extLst>
          </p:cNvPr>
          <p:cNvSpPr/>
          <p:nvPr/>
        </p:nvSpPr>
        <p:spPr>
          <a:xfrm>
            <a:off x="9626600" y="3822700"/>
            <a:ext cx="1752600" cy="18161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7E3654-C212-E1BA-B1A3-BDE73971508C}"/>
              </a:ext>
            </a:extLst>
          </p:cNvPr>
          <p:cNvSpPr txBox="1"/>
          <p:nvPr/>
        </p:nvSpPr>
        <p:spPr>
          <a:xfrm>
            <a:off x="9791700" y="4000500"/>
            <a:ext cx="1397000" cy="10772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700" b="1">
                <a:solidFill>
                  <a:srgbClr val="176C58"/>
                </a:solidFill>
                <a:latin typeface="Aptos" panose="020B0004020202020204" pitchFamily="34" charset="0"/>
              </a:rPr>
              <a:t>RECENT ACTIVITY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4360723-4835-324A-0571-DF0802C02973}"/>
              </a:ext>
            </a:extLst>
          </p:cNvPr>
          <p:cNvSpPr/>
          <p:nvPr/>
        </p:nvSpPr>
        <p:spPr>
          <a:xfrm>
            <a:off x="9804400" y="4432300"/>
            <a:ext cx="203200" cy="203200"/>
          </a:xfrm>
          <a:prstGeom prst="ellipse">
            <a:avLst/>
          </a:prstGeom>
          <a:solidFill>
            <a:srgbClr val="E4F2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00" b="1">
              <a:solidFill>
                <a:srgbClr val="176C58"/>
              </a:solidFill>
              <a:latin typeface="Aptos" panose="020B000402020202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03D4066-AD8C-9488-EC65-C6E357575073}"/>
              </a:ext>
            </a:extLst>
          </p:cNvPr>
          <p:cNvCxnSpPr/>
          <p:nvPr/>
        </p:nvCxnSpPr>
        <p:spPr>
          <a:xfrm>
            <a:off x="10121900" y="4533900"/>
            <a:ext cx="1028700" cy="0"/>
          </a:xfrm>
          <a:prstGeom prst="line">
            <a:avLst/>
          </a:prstGeom>
          <a:ln w="1905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25A4038B-6A5E-8B61-36A8-52F9F8EBA88A}"/>
              </a:ext>
            </a:extLst>
          </p:cNvPr>
          <p:cNvSpPr/>
          <p:nvPr/>
        </p:nvSpPr>
        <p:spPr>
          <a:xfrm>
            <a:off x="9804400" y="4775200"/>
            <a:ext cx="203200" cy="203200"/>
          </a:xfrm>
          <a:prstGeom prst="ellipse">
            <a:avLst/>
          </a:prstGeom>
          <a:solidFill>
            <a:srgbClr val="E4F2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00" b="1">
              <a:solidFill>
                <a:srgbClr val="176C58"/>
              </a:solidFill>
              <a:latin typeface="Aptos" panose="020B0004020202020204" pitchFamily="34" charset="0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B127594-4614-E4EA-EAD7-084862A870FC}"/>
              </a:ext>
            </a:extLst>
          </p:cNvPr>
          <p:cNvCxnSpPr/>
          <p:nvPr/>
        </p:nvCxnSpPr>
        <p:spPr>
          <a:xfrm>
            <a:off x="10121900" y="4876800"/>
            <a:ext cx="1028700" cy="0"/>
          </a:xfrm>
          <a:prstGeom prst="line">
            <a:avLst/>
          </a:prstGeom>
          <a:ln w="1905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0E65CA5C-E5DE-67BD-BE0B-4A29B49E77AE}"/>
              </a:ext>
            </a:extLst>
          </p:cNvPr>
          <p:cNvSpPr/>
          <p:nvPr/>
        </p:nvSpPr>
        <p:spPr>
          <a:xfrm>
            <a:off x="9804400" y="5118100"/>
            <a:ext cx="203200" cy="203200"/>
          </a:xfrm>
          <a:prstGeom prst="ellipse">
            <a:avLst/>
          </a:prstGeom>
          <a:solidFill>
            <a:srgbClr val="E4F2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00" b="1">
              <a:solidFill>
                <a:srgbClr val="176C58"/>
              </a:solidFill>
              <a:latin typeface="Aptos" panose="020B0004020202020204" pitchFamily="34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8CAF0AA-4114-C9CA-D1EC-7952AE7C52AC}"/>
              </a:ext>
            </a:extLst>
          </p:cNvPr>
          <p:cNvCxnSpPr/>
          <p:nvPr/>
        </p:nvCxnSpPr>
        <p:spPr>
          <a:xfrm>
            <a:off x="10121900" y="5219700"/>
            <a:ext cx="1028700" cy="0"/>
          </a:xfrm>
          <a:prstGeom prst="line">
            <a:avLst/>
          </a:prstGeom>
          <a:ln w="1905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056C4B4-CEF4-3EB6-AC2A-AC6815682401}"/>
              </a:ext>
            </a:extLst>
          </p:cNvPr>
          <p:cNvSpPr txBox="1"/>
          <p:nvPr/>
        </p:nvSpPr>
        <p:spPr>
          <a:xfrm>
            <a:off x="609600" y="1320800"/>
            <a:ext cx="10033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60716A"/>
                </a:solidFill>
                <a:latin typeface="Aptos" panose="020B0004020202020204" pitchFamily="34" charset="0"/>
              </a:rPr>
              <a:t>The home screen surfaces the workforce signals and next actions that matter today.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F801C23-85F8-FF8A-B975-532B7206B151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D4738D7-E491-CABF-AE3A-AD25E677CD57}"/>
              </a:ext>
            </a:extLst>
          </p:cNvPr>
          <p:cNvSpPr txBox="1"/>
          <p:nvPr/>
        </p:nvSpPr>
        <p:spPr>
          <a:xfrm>
            <a:off x="609600" y="6540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DIGITAL ATTENDANCE | CLIENT PRESENTATION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EC020A-AA18-B789-F7B1-1336BEEC10FB}"/>
              </a:ext>
            </a:extLst>
          </p:cNvPr>
          <p:cNvSpPr txBox="1"/>
          <p:nvPr/>
        </p:nvSpPr>
        <p:spPr>
          <a:xfrm>
            <a:off x="10922000" y="6540500"/>
            <a:ext cx="660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40280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64007E-2257-7F57-ACA4-273F49C61298}"/>
              </a:ext>
            </a:extLst>
          </p:cNvPr>
          <p:cNvSpPr txBox="1"/>
          <p:nvPr/>
        </p:nvSpPr>
        <p:spPr>
          <a:xfrm>
            <a:off x="609600" y="4064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176C58"/>
                </a:solidFill>
                <a:latin typeface="Aptos" panose="020B0004020202020204" pitchFamily="34" charset="0"/>
              </a:rPr>
              <a:t>04 / EMPLOYEE ENROLLMENT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7ADFBA-E077-AAC3-283D-447910907D1A}"/>
              </a:ext>
            </a:extLst>
          </p:cNvPr>
          <p:cNvSpPr txBox="1"/>
          <p:nvPr/>
        </p:nvSpPr>
        <p:spPr>
          <a:xfrm>
            <a:off x="609600" y="736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7211E"/>
                </a:solidFill>
                <a:latin typeface="Aptos Display" panose="020B0004020202020204" pitchFamily="34" charset="0"/>
              </a:rPr>
              <a:t>A guided two-step registration experience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05B32-D2BD-A347-1840-B8D08461E435}"/>
              </a:ext>
            </a:extLst>
          </p:cNvPr>
          <p:cNvSpPr txBox="1"/>
          <p:nvPr/>
        </p:nvSpPr>
        <p:spPr>
          <a:xfrm>
            <a:off x="609600" y="1320800"/>
            <a:ext cx="10033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60716A"/>
                </a:solidFill>
                <a:latin typeface="Aptos" panose="020B0004020202020204" pitchFamily="34" charset="0"/>
              </a:rPr>
              <a:t>Employee records and biometric references stay connected through a clear, deliberate workflow.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9A1CE2-4A82-4832-6C10-EBC804B268D1}"/>
              </a:ext>
            </a:extLst>
          </p:cNvPr>
          <p:cNvSpPr/>
          <p:nvPr/>
        </p:nvSpPr>
        <p:spPr>
          <a:xfrm>
            <a:off x="609600" y="2032000"/>
            <a:ext cx="5207000" cy="3860800"/>
          </a:xfrm>
          <a:prstGeom prst="roundRect">
            <a:avLst/>
          </a:prstGeom>
          <a:solidFill>
            <a:srgbClr val="F4F6F4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E5E685-8EEC-ADB2-F2E8-076321394B73}"/>
              </a:ext>
            </a:extLst>
          </p:cNvPr>
          <p:cNvSpPr/>
          <p:nvPr/>
        </p:nvSpPr>
        <p:spPr>
          <a:xfrm>
            <a:off x="939800" y="2349500"/>
            <a:ext cx="482600" cy="4826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FD27E-3AEC-7E0E-EA2F-F8FDE343D652}"/>
              </a:ext>
            </a:extLst>
          </p:cNvPr>
          <p:cNvSpPr txBox="1"/>
          <p:nvPr/>
        </p:nvSpPr>
        <p:spPr>
          <a:xfrm>
            <a:off x="1625600" y="23495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17211E"/>
                </a:solidFill>
                <a:latin typeface="Aptos" panose="020B0004020202020204" pitchFamily="34" charset="0"/>
              </a:rPr>
              <a:t>Save employee details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CD0DFA-5EA6-F84B-BCDE-37AACC4AA724}"/>
              </a:ext>
            </a:extLst>
          </p:cNvPr>
          <p:cNvSpPr txBox="1"/>
          <p:nvPr/>
        </p:nvSpPr>
        <p:spPr>
          <a:xfrm>
            <a:off x="939800" y="2984500"/>
            <a:ext cx="4064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60716A"/>
                </a:solidFill>
                <a:latin typeface="Aptos" panose="020B0004020202020204" pitchFamily="34" charset="0"/>
              </a:rPr>
              <a:t>Capture the core workforce record first so every face reference is linked to a unique employee ID.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8792EF-4CE0-31C9-DE71-A59F5DABA3EB}"/>
              </a:ext>
            </a:extLst>
          </p:cNvPr>
          <p:cNvSpPr txBox="1"/>
          <p:nvPr/>
        </p:nvSpPr>
        <p:spPr>
          <a:xfrm>
            <a:off x="939800" y="3873500"/>
            <a:ext cx="1930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Employee code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435659C-DFD3-E2F7-3BEA-8EEBB13357B3}"/>
              </a:ext>
            </a:extLst>
          </p:cNvPr>
          <p:cNvSpPr/>
          <p:nvPr/>
        </p:nvSpPr>
        <p:spPr>
          <a:xfrm>
            <a:off x="939800" y="4102100"/>
            <a:ext cx="1930400" cy="381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345338-962A-C33F-E4CB-197B9C4BBA68}"/>
              </a:ext>
            </a:extLst>
          </p:cNvPr>
          <p:cNvSpPr txBox="1"/>
          <p:nvPr/>
        </p:nvSpPr>
        <p:spPr>
          <a:xfrm>
            <a:off x="3149600" y="3873500"/>
            <a:ext cx="1930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Full name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85659A-4523-EF16-5C53-659E1CD8A065}"/>
              </a:ext>
            </a:extLst>
          </p:cNvPr>
          <p:cNvSpPr/>
          <p:nvPr/>
        </p:nvSpPr>
        <p:spPr>
          <a:xfrm>
            <a:off x="3149600" y="4102100"/>
            <a:ext cx="1930400" cy="381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0FEB70-4E14-5988-F8B3-018BF13A5C78}"/>
              </a:ext>
            </a:extLst>
          </p:cNvPr>
          <p:cNvSpPr txBox="1"/>
          <p:nvPr/>
        </p:nvSpPr>
        <p:spPr>
          <a:xfrm>
            <a:off x="939800" y="4610100"/>
            <a:ext cx="1930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Department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73E7D42-9975-F289-1612-B28267835A86}"/>
              </a:ext>
            </a:extLst>
          </p:cNvPr>
          <p:cNvSpPr/>
          <p:nvPr/>
        </p:nvSpPr>
        <p:spPr>
          <a:xfrm>
            <a:off x="939800" y="4838700"/>
            <a:ext cx="1930400" cy="381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A169BB-6B3F-F896-1E91-4E79F38FEED2}"/>
              </a:ext>
            </a:extLst>
          </p:cNvPr>
          <p:cNvSpPr txBox="1"/>
          <p:nvPr/>
        </p:nvSpPr>
        <p:spPr>
          <a:xfrm>
            <a:off x="3149600" y="4610100"/>
            <a:ext cx="1930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Status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21107F0-EC4B-A4FB-B2D8-E7AA05CAF46B}"/>
              </a:ext>
            </a:extLst>
          </p:cNvPr>
          <p:cNvSpPr/>
          <p:nvPr/>
        </p:nvSpPr>
        <p:spPr>
          <a:xfrm>
            <a:off x="3149600" y="4838700"/>
            <a:ext cx="1930400" cy="381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81461-6FCD-BFE1-5A4D-8B5A18113547}"/>
              </a:ext>
            </a:extLst>
          </p:cNvPr>
          <p:cNvSpPr/>
          <p:nvPr/>
        </p:nvSpPr>
        <p:spPr>
          <a:xfrm>
            <a:off x="6197600" y="2032000"/>
            <a:ext cx="5384800" cy="3860800"/>
          </a:xfrm>
          <a:prstGeom prst="roundRect">
            <a:avLst/>
          </a:prstGeom>
          <a:solidFill>
            <a:srgbClr val="1429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086872-E246-7663-B147-F13FF86AAC6D}"/>
              </a:ext>
            </a:extLst>
          </p:cNvPr>
          <p:cNvSpPr/>
          <p:nvPr/>
        </p:nvSpPr>
        <p:spPr>
          <a:xfrm>
            <a:off x="6527800" y="2349500"/>
            <a:ext cx="482600" cy="4826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EC9E60-38AC-FFAB-553A-0B08CDA9294D}"/>
              </a:ext>
            </a:extLst>
          </p:cNvPr>
          <p:cNvSpPr txBox="1"/>
          <p:nvPr/>
        </p:nvSpPr>
        <p:spPr>
          <a:xfrm>
            <a:off x="7213600" y="2349500"/>
            <a:ext cx="3556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Capture one clear face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19EE271-03A7-0DBA-922F-06BA5FC13B02}"/>
              </a:ext>
            </a:extLst>
          </p:cNvPr>
          <p:cNvSpPr/>
          <p:nvPr/>
        </p:nvSpPr>
        <p:spPr>
          <a:xfrm>
            <a:off x="6680200" y="2984500"/>
            <a:ext cx="2667000" cy="2108200"/>
          </a:xfrm>
          <a:prstGeom prst="roundRect">
            <a:avLst/>
          </a:prstGeom>
          <a:solidFill>
            <a:srgbClr val="091612"/>
          </a:solidFill>
          <a:ln w="10160">
            <a:solidFill>
              <a:srgbClr val="4063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EAE5040-012E-E4E1-D645-1AEE9DAC1875}"/>
              </a:ext>
            </a:extLst>
          </p:cNvPr>
          <p:cNvSpPr/>
          <p:nvPr/>
        </p:nvSpPr>
        <p:spPr>
          <a:xfrm>
            <a:off x="7581900" y="3340100"/>
            <a:ext cx="889000" cy="1270000"/>
          </a:xfrm>
          <a:prstGeom prst="ellipse">
            <a:avLst/>
          </a:prstGeom>
          <a:noFill/>
          <a:ln w="16510" cap="flat" cmpd="sng" algn="ctr">
            <a:solidFill>
              <a:srgbClr val="B1E0D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BDB2060-FD23-FBAC-5BAF-B8E809FCD8C6}"/>
              </a:ext>
            </a:extLst>
          </p:cNvPr>
          <p:cNvSpPr/>
          <p:nvPr/>
        </p:nvSpPr>
        <p:spPr>
          <a:xfrm>
            <a:off x="9575800" y="3124200"/>
            <a:ext cx="1651000" cy="533400"/>
          </a:xfrm>
          <a:prstGeom prst="roundRect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DF3EAE-D762-7B42-0BE3-D00C561267FB}"/>
              </a:ext>
            </a:extLst>
          </p:cNvPr>
          <p:cNvSpPr txBox="1"/>
          <p:nvPr/>
        </p:nvSpPr>
        <p:spPr>
          <a:xfrm>
            <a:off x="9575800" y="3193450"/>
            <a:ext cx="1651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START CAMERA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1D1092A-AE2C-223A-872E-8EB05703F261}"/>
              </a:ext>
            </a:extLst>
          </p:cNvPr>
          <p:cNvSpPr/>
          <p:nvPr/>
        </p:nvSpPr>
        <p:spPr>
          <a:xfrm>
            <a:off x="9575800" y="3835400"/>
            <a:ext cx="16510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42A53C-5135-B8E3-9BEE-42A3B24C00FB}"/>
              </a:ext>
            </a:extLst>
          </p:cNvPr>
          <p:cNvSpPr txBox="1"/>
          <p:nvPr/>
        </p:nvSpPr>
        <p:spPr>
          <a:xfrm>
            <a:off x="9575800" y="3904650"/>
            <a:ext cx="1651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115244"/>
                </a:solidFill>
                <a:latin typeface="Aptos" panose="020B0004020202020204" pitchFamily="34" charset="0"/>
              </a:rPr>
              <a:t>CAPTURE FACE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A5393E-5A6B-3BCE-6615-073A98B65A02}"/>
              </a:ext>
            </a:extLst>
          </p:cNvPr>
          <p:cNvSpPr txBox="1"/>
          <p:nvPr/>
        </p:nvSpPr>
        <p:spPr>
          <a:xfrm>
            <a:off x="9575800" y="4635500"/>
            <a:ext cx="1752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>
                <a:solidFill>
                  <a:srgbClr val="B6CCC4"/>
                </a:solidFill>
                <a:latin typeface="Aptos" panose="020B0004020202020204" pitchFamily="34" charset="0"/>
              </a:rPr>
              <a:t>One person in frame
Front-facing and well lit
Browser camera permission required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5C7355-BD26-D4AD-7A41-F943C1CAAE9C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EFA68DA-601F-A589-A5B1-8C8CECAC8987}"/>
              </a:ext>
            </a:extLst>
          </p:cNvPr>
          <p:cNvSpPr txBox="1"/>
          <p:nvPr/>
        </p:nvSpPr>
        <p:spPr>
          <a:xfrm>
            <a:off x="609600" y="6540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DIGITAL ATTENDANCE | CLIENT PRESENTATION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3889BA-630B-340C-45ED-8F8CD628A9DE}"/>
              </a:ext>
            </a:extLst>
          </p:cNvPr>
          <p:cNvSpPr txBox="1"/>
          <p:nvPr/>
        </p:nvSpPr>
        <p:spPr>
          <a:xfrm>
            <a:off x="10922000" y="6540500"/>
            <a:ext cx="660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96452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43DB1A-99C2-1776-B89A-CD2BF435C08D}"/>
              </a:ext>
            </a:extLst>
          </p:cNvPr>
          <p:cNvSpPr txBox="1"/>
          <p:nvPr/>
        </p:nvSpPr>
        <p:spPr>
          <a:xfrm>
            <a:off x="609600" y="4064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176C58"/>
                </a:solidFill>
                <a:latin typeface="Aptos" panose="020B0004020202020204" pitchFamily="34" charset="0"/>
              </a:rPr>
              <a:t>05 / LIVE ATTENDANCE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B5EC7-2C3E-E474-3A11-F170A50C7BE0}"/>
              </a:ext>
            </a:extLst>
          </p:cNvPr>
          <p:cNvSpPr txBox="1"/>
          <p:nvPr/>
        </p:nvSpPr>
        <p:spPr>
          <a:xfrm>
            <a:off x="609600" y="736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7211E"/>
                </a:solidFill>
                <a:latin typeface="Aptos Display" panose="020B0004020202020204" pitchFamily="34" charset="0"/>
              </a:rPr>
              <a:t>Built to stay on throughout the working 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A957A9-8E94-97FD-F6B9-AAC348422DC3}"/>
              </a:ext>
            </a:extLst>
          </p:cNvPr>
          <p:cNvSpPr txBox="1"/>
          <p:nvPr/>
        </p:nvSpPr>
        <p:spPr>
          <a:xfrm>
            <a:off x="609600" y="1320800"/>
            <a:ext cx="10033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60716A"/>
                </a:solidFill>
                <a:latin typeface="Aptos" panose="020B0004020202020204" pitchFamily="34" charset="0"/>
              </a:rPr>
              <a:t>Continuous monitoring recognizes eligible employees while configurable cooldown prevents rapid duplicate scans.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1639EF-CD77-241F-4211-7523AAF0AA08}"/>
              </a:ext>
            </a:extLst>
          </p:cNvPr>
          <p:cNvSpPr/>
          <p:nvPr/>
        </p:nvSpPr>
        <p:spPr>
          <a:xfrm>
            <a:off x="609600" y="2095500"/>
            <a:ext cx="10972800" cy="3581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A4EF74-9267-FDF0-094B-5388C7D83A6A}"/>
              </a:ext>
            </a:extLst>
          </p:cNvPr>
          <p:cNvSpPr/>
          <p:nvPr/>
        </p:nvSpPr>
        <p:spPr>
          <a:xfrm>
            <a:off x="1206500" y="3111500"/>
            <a:ext cx="787400" cy="7874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A5273-152B-D11F-C7D0-6C2F063333B4}"/>
              </a:ext>
            </a:extLst>
          </p:cNvPr>
          <p:cNvSpPr txBox="1"/>
          <p:nvPr/>
        </p:nvSpPr>
        <p:spPr>
          <a:xfrm>
            <a:off x="889000" y="4089400"/>
            <a:ext cx="1422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300" b="1">
                <a:solidFill>
                  <a:srgbClr val="17211E"/>
                </a:solidFill>
                <a:latin typeface="Aptos" panose="020B0004020202020204" pitchFamily="34" charset="0"/>
              </a:rPr>
              <a:t>Camera feed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2C9F2C-2186-3192-C6CB-C55D1D4E4B81}"/>
              </a:ext>
            </a:extLst>
          </p:cNvPr>
          <p:cNvSpPr txBox="1"/>
          <p:nvPr/>
        </p:nvSpPr>
        <p:spPr>
          <a:xfrm>
            <a:off x="800100" y="4419600"/>
            <a:ext cx="16002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60716A"/>
                </a:solidFill>
                <a:latin typeface="Aptos" panose="020B0004020202020204" pitchFamily="34" charset="0"/>
              </a:rPr>
              <a:t>Connected system camera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B9CA08-D8FF-A13C-BEBA-1233E486867A}"/>
              </a:ext>
            </a:extLst>
          </p:cNvPr>
          <p:cNvCxnSpPr/>
          <p:nvPr/>
        </p:nvCxnSpPr>
        <p:spPr>
          <a:xfrm>
            <a:off x="2222500" y="3505200"/>
            <a:ext cx="1270000" cy="0"/>
          </a:xfrm>
          <a:prstGeom prst="line">
            <a:avLst/>
          </a:prstGeom>
          <a:ln w="2540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33F54E9-65BD-7387-CE2A-12C1688E30D5}"/>
              </a:ext>
            </a:extLst>
          </p:cNvPr>
          <p:cNvSpPr/>
          <p:nvPr/>
        </p:nvSpPr>
        <p:spPr>
          <a:xfrm>
            <a:off x="3708400" y="3111500"/>
            <a:ext cx="787400" cy="787400"/>
          </a:xfrm>
          <a:prstGeom prst="ellipse">
            <a:avLst/>
          </a:prstGeom>
          <a:solidFill>
            <a:srgbClr val="286A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36FCA0-1C05-FAA9-9DA5-B67DE526A4DF}"/>
              </a:ext>
            </a:extLst>
          </p:cNvPr>
          <p:cNvSpPr txBox="1"/>
          <p:nvPr/>
        </p:nvSpPr>
        <p:spPr>
          <a:xfrm>
            <a:off x="3429000" y="4089400"/>
            <a:ext cx="1346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300" b="1">
                <a:solidFill>
                  <a:srgbClr val="17211E"/>
                </a:solidFill>
                <a:latin typeface="Aptos" panose="020B0004020202020204" pitchFamily="34" charset="0"/>
              </a:rPr>
              <a:t>Face match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A4AB06-CB95-F0F4-8D98-54BBD98F60CC}"/>
              </a:ext>
            </a:extLst>
          </p:cNvPr>
          <p:cNvSpPr txBox="1"/>
          <p:nvPr/>
        </p:nvSpPr>
        <p:spPr>
          <a:xfrm>
            <a:off x="3238500" y="4419600"/>
            <a:ext cx="1752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60716A"/>
                </a:solidFill>
                <a:latin typeface="Aptos" panose="020B0004020202020204" pitchFamily="34" charset="0"/>
              </a:rPr>
              <a:t>Active registered employees only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6EC344-8F24-B1EB-B282-BDE101C8A60D}"/>
              </a:ext>
            </a:extLst>
          </p:cNvPr>
          <p:cNvCxnSpPr/>
          <p:nvPr/>
        </p:nvCxnSpPr>
        <p:spPr>
          <a:xfrm>
            <a:off x="4724400" y="3505200"/>
            <a:ext cx="1270000" cy="0"/>
          </a:xfrm>
          <a:prstGeom prst="line">
            <a:avLst/>
          </a:prstGeom>
          <a:ln w="2540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4A0DBAA-A077-6AE6-7406-820B2B85C5F3}"/>
              </a:ext>
            </a:extLst>
          </p:cNvPr>
          <p:cNvSpPr/>
          <p:nvPr/>
        </p:nvSpPr>
        <p:spPr>
          <a:xfrm>
            <a:off x="6210300" y="3111500"/>
            <a:ext cx="787400" cy="787400"/>
          </a:xfrm>
          <a:prstGeom prst="ellipse">
            <a:avLst/>
          </a:prstGeom>
          <a:solidFill>
            <a:srgbClr val="B8701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C3FCC0-AF2D-D012-0C00-3B80D8888CE2}"/>
              </a:ext>
            </a:extLst>
          </p:cNvPr>
          <p:cNvSpPr txBox="1"/>
          <p:nvPr/>
        </p:nvSpPr>
        <p:spPr>
          <a:xfrm>
            <a:off x="5892800" y="4089400"/>
            <a:ext cx="1447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300" b="1">
                <a:solidFill>
                  <a:srgbClr val="17211E"/>
                </a:solidFill>
                <a:latin typeface="Aptos" panose="020B0004020202020204" pitchFamily="34" charset="0"/>
              </a:rPr>
              <a:t>Cooldown check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3E4067-DB80-4EFF-153D-5A2286194E35}"/>
              </a:ext>
            </a:extLst>
          </p:cNvPr>
          <p:cNvSpPr txBox="1"/>
          <p:nvPr/>
        </p:nvSpPr>
        <p:spPr>
          <a:xfrm>
            <a:off x="5727700" y="44196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60716A"/>
                </a:solidFill>
                <a:latin typeface="Aptos" panose="020B0004020202020204" pitchFamily="34" charset="0"/>
              </a:rPr>
              <a:t>Default 5 minutes, admin configurable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A9C9EB-0B49-4CBA-03EB-10C3223ACC77}"/>
              </a:ext>
            </a:extLst>
          </p:cNvPr>
          <p:cNvCxnSpPr/>
          <p:nvPr/>
        </p:nvCxnSpPr>
        <p:spPr>
          <a:xfrm>
            <a:off x="7226300" y="3505200"/>
            <a:ext cx="1270000" cy="0"/>
          </a:xfrm>
          <a:prstGeom prst="line">
            <a:avLst/>
          </a:prstGeom>
          <a:ln w="2540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E383431-48BF-43E8-BD08-6BA360B5BF3A}"/>
              </a:ext>
            </a:extLst>
          </p:cNvPr>
          <p:cNvSpPr/>
          <p:nvPr/>
        </p:nvSpPr>
        <p:spPr>
          <a:xfrm>
            <a:off x="8712200" y="3111500"/>
            <a:ext cx="787400" cy="787400"/>
          </a:xfrm>
          <a:prstGeom prst="ellipse">
            <a:avLst/>
          </a:prstGeom>
          <a:solidFill>
            <a:srgbClr val="1152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F8032C-52F6-FFFF-CBB9-46AD8F867BCE}"/>
              </a:ext>
            </a:extLst>
          </p:cNvPr>
          <p:cNvSpPr txBox="1"/>
          <p:nvPr/>
        </p:nvSpPr>
        <p:spPr>
          <a:xfrm>
            <a:off x="8432800" y="4089400"/>
            <a:ext cx="1397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300" b="1">
                <a:solidFill>
                  <a:srgbClr val="17211E"/>
                </a:solidFill>
                <a:latin typeface="Aptos" panose="020B0004020202020204" pitchFamily="34" charset="0"/>
              </a:rPr>
              <a:t>Timestamp saved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09876F-38D1-F31D-5042-9C483ED44EFD}"/>
              </a:ext>
            </a:extLst>
          </p:cNvPr>
          <p:cNvSpPr txBox="1"/>
          <p:nvPr/>
        </p:nvSpPr>
        <p:spPr>
          <a:xfrm>
            <a:off x="8204200" y="4419600"/>
            <a:ext cx="185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60716A"/>
                </a:solidFill>
                <a:latin typeface="Aptos" panose="020B0004020202020204" pitchFamily="34" charset="0"/>
              </a:rPr>
              <a:t>Event added to the Excel attendance sheet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6D2B273-2FA9-1373-5C04-B33394CFD060}"/>
              </a:ext>
            </a:extLst>
          </p:cNvPr>
          <p:cNvSpPr/>
          <p:nvPr/>
        </p:nvSpPr>
        <p:spPr>
          <a:xfrm>
            <a:off x="10172700" y="2844800"/>
            <a:ext cx="990600" cy="1320800"/>
          </a:xfrm>
          <a:prstGeom prst="roundRect">
            <a:avLst/>
          </a:prstGeom>
          <a:solidFill>
            <a:srgbClr val="E4F2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6C0E8B-C66E-F3D4-9411-92CF1836924C}"/>
              </a:ext>
            </a:extLst>
          </p:cNvPr>
          <p:cNvSpPr txBox="1"/>
          <p:nvPr/>
        </p:nvSpPr>
        <p:spPr>
          <a:xfrm>
            <a:off x="10172700" y="3073400"/>
            <a:ext cx="990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800" b="1">
                <a:solidFill>
                  <a:srgbClr val="176C58"/>
                </a:solidFill>
                <a:latin typeface="Aptos" panose="020B0004020202020204" pitchFamily="34" charset="0"/>
              </a:rPr>
              <a:t>READY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13370C-E621-0ABF-B310-627AA10626B4}"/>
              </a:ext>
            </a:extLst>
          </p:cNvPr>
          <p:cNvSpPr txBox="1"/>
          <p:nvPr/>
        </p:nvSpPr>
        <p:spPr>
          <a:xfrm>
            <a:off x="10172700" y="3429000"/>
            <a:ext cx="99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b="1">
                <a:solidFill>
                  <a:srgbClr val="115244"/>
                </a:solidFill>
                <a:latin typeface="Aptos" panose="020B0004020202020204" pitchFamily="34" charset="0"/>
              </a:rPr>
              <a:t>24/7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9DFEBD2-9F0E-F545-8888-7AD3CD4ECEAB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C4295A6-D5C3-7E8C-4B1F-2DA5BB7A07E5}"/>
              </a:ext>
            </a:extLst>
          </p:cNvPr>
          <p:cNvSpPr txBox="1"/>
          <p:nvPr/>
        </p:nvSpPr>
        <p:spPr>
          <a:xfrm>
            <a:off x="609600" y="6540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DIGITAL ATTENDANCE | CLIENT PRESENTATION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BB6DBC-E062-08AE-2FF6-DD437C19A02D}"/>
              </a:ext>
            </a:extLst>
          </p:cNvPr>
          <p:cNvSpPr txBox="1"/>
          <p:nvPr/>
        </p:nvSpPr>
        <p:spPr>
          <a:xfrm>
            <a:off x="10922000" y="6540500"/>
            <a:ext cx="660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5611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82C113-8BCD-71FE-5A19-A9F3B22CE298}"/>
              </a:ext>
            </a:extLst>
          </p:cNvPr>
          <p:cNvSpPr txBox="1"/>
          <p:nvPr/>
        </p:nvSpPr>
        <p:spPr>
          <a:xfrm>
            <a:off x="609600" y="4064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176C58"/>
                </a:solidFill>
                <a:latin typeface="Aptos" panose="020B0004020202020204" pitchFamily="34" charset="0"/>
              </a:rPr>
              <a:t>06 / POLICY ENGINE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CD8A3-AFA4-FAD5-640F-2F833A671252}"/>
              </a:ext>
            </a:extLst>
          </p:cNvPr>
          <p:cNvSpPr txBox="1"/>
          <p:nvPr/>
        </p:nvSpPr>
        <p:spPr>
          <a:xfrm>
            <a:off x="609600" y="736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7211E"/>
                </a:solidFill>
                <a:latin typeface="Aptos Display" panose="020B0004020202020204" pitchFamily="34" charset="0"/>
              </a:rPr>
              <a:t>Consistent rules with human control where needed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F657E4-D530-789E-1963-7F5B01703140}"/>
              </a:ext>
            </a:extLst>
          </p:cNvPr>
          <p:cNvSpPr txBox="1"/>
          <p:nvPr/>
        </p:nvSpPr>
        <p:spPr>
          <a:xfrm>
            <a:off x="609600" y="1320800"/>
            <a:ext cx="10033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60716A"/>
                </a:solidFill>
                <a:latin typeface="Aptos" panose="020B0004020202020204" pitchFamily="34" charset="0"/>
              </a:rPr>
              <a:t>Daily duration is measured from the first recognition timestamp to the last timestamp for that employee.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78700D-A60A-78A4-035C-6B113CB82B66}"/>
              </a:ext>
            </a:extLst>
          </p:cNvPr>
          <p:cNvCxnSpPr/>
          <p:nvPr/>
        </p:nvCxnSpPr>
        <p:spPr>
          <a:xfrm>
            <a:off x="1270000" y="2959100"/>
            <a:ext cx="9652000" cy="0"/>
          </a:xfrm>
          <a:prstGeom prst="line">
            <a:avLst/>
          </a:prstGeom>
          <a:ln w="6350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B0D04A-DB05-6603-58AA-A048996FC20E}"/>
              </a:ext>
            </a:extLst>
          </p:cNvPr>
          <p:cNvCxnSpPr/>
          <p:nvPr/>
        </p:nvCxnSpPr>
        <p:spPr>
          <a:xfrm>
            <a:off x="1270000" y="2959100"/>
            <a:ext cx="4826000" cy="0"/>
          </a:xfrm>
          <a:prstGeom prst="line">
            <a:avLst/>
          </a:prstGeom>
          <a:ln w="63500">
            <a:solidFill>
              <a:srgbClr val="B33D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8ADE464-D2CC-4E00-ABD0-3B760EAE1299}"/>
              </a:ext>
            </a:extLst>
          </p:cNvPr>
          <p:cNvCxnSpPr/>
          <p:nvPr/>
        </p:nvCxnSpPr>
        <p:spPr>
          <a:xfrm>
            <a:off x="6096000" y="2959100"/>
            <a:ext cx="3048000" cy="0"/>
          </a:xfrm>
          <a:prstGeom prst="line">
            <a:avLst/>
          </a:prstGeom>
          <a:ln w="63500">
            <a:solidFill>
              <a:srgbClr val="B870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98919A-A98C-BC10-DF77-F57DDC7B4CA7}"/>
              </a:ext>
            </a:extLst>
          </p:cNvPr>
          <p:cNvCxnSpPr/>
          <p:nvPr/>
        </p:nvCxnSpPr>
        <p:spPr>
          <a:xfrm>
            <a:off x="9144000" y="2959100"/>
            <a:ext cx="1778000" cy="0"/>
          </a:xfrm>
          <a:prstGeom prst="line">
            <a:avLst/>
          </a:prstGeom>
          <a:ln w="63500">
            <a:solidFill>
              <a:srgbClr val="176C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33ED89E-7212-44B2-20B8-78FC009B807C}"/>
              </a:ext>
            </a:extLst>
          </p:cNvPr>
          <p:cNvSpPr/>
          <p:nvPr/>
        </p:nvSpPr>
        <p:spPr>
          <a:xfrm>
            <a:off x="1168400" y="2857500"/>
            <a:ext cx="203200" cy="203200"/>
          </a:xfrm>
          <a:prstGeom prst="ellipse">
            <a:avLst/>
          </a:prstGeom>
          <a:solidFill>
            <a:srgbClr val="1721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82C694-C2F4-8D0B-3DA3-B118E0392ECD}"/>
              </a:ext>
            </a:extLst>
          </p:cNvPr>
          <p:cNvSpPr txBox="1"/>
          <p:nvPr/>
        </p:nvSpPr>
        <p:spPr>
          <a:xfrm>
            <a:off x="571500" y="3276600"/>
            <a:ext cx="1397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17211E"/>
                </a:solidFill>
                <a:latin typeface="Aptos" panose="020B0004020202020204" pitchFamily="34" charset="0"/>
              </a:rPr>
              <a:t>First scan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69F63-8A55-C3F4-017D-A5D804DC99ED}"/>
              </a:ext>
            </a:extLst>
          </p:cNvPr>
          <p:cNvSpPr txBox="1"/>
          <p:nvPr/>
        </p:nvSpPr>
        <p:spPr>
          <a:xfrm>
            <a:off x="444500" y="3581400"/>
            <a:ext cx="1651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850">
                <a:solidFill>
                  <a:srgbClr val="60716A"/>
                </a:solidFill>
                <a:latin typeface="Aptos" panose="020B0004020202020204" pitchFamily="34" charset="0"/>
              </a:rPr>
              <a:t>Start of measured day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EA9BC6-D047-18A8-DFC7-366E7FDAEFA1}"/>
              </a:ext>
            </a:extLst>
          </p:cNvPr>
          <p:cNvSpPr/>
          <p:nvPr/>
        </p:nvSpPr>
        <p:spPr>
          <a:xfrm>
            <a:off x="5994400" y="2857500"/>
            <a:ext cx="203200" cy="203200"/>
          </a:xfrm>
          <a:prstGeom prst="ellipse">
            <a:avLst/>
          </a:prstGeom>
          <a:solidFill>
            <a:srgbClr val="B8701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9278E0-8DD6-B073-1CAD-C0A77FA87DBF}"/>
              </a:ext>
            </a:extLst>
          </p:cNvPr>
          <p:cNvSpPr txBox="1"/>
          <p:nvPr/>
        </p:nvSpPr>
        <p:spPr>
          <a:xfrm>
            <a:off x="5397500" y="3276600"/>
            <a:ext cx="1397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17211E"/>
                </a:solidFill>
                <a:latin typeface="Aptos" panose="020B0004020202020204" pitchFamily="34" charset="0"/>
              </a:rPr>
              <a:t>4 hours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7B9F59-44C9-7DBC-0E95-3E66942BD744}"/>
              </a:ext>
            </a:extLst>
          </p:cNvPr>
          <p:cNvSpPr txBox="1"/>
          <p:nvPr/>
        </p:nvSpPr>
        <p:spPr>
          <a:xfrm>
            <a:off x="5270500" y="3581400"/>
            <a:ext cx="1651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850">
                <a:solidFill>
                  <a:srgbClr val="60716A"/>
                </a:solidFill>
                <a:latin typeface="Aptos" panose="020B0004020202020204" pitchFamily="34" charset="0"/>
              </a:rPr>
              <a:t>Half-day threshold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7E331F-397B-0C62-6B36-2E3E8F8F105F}"/>
              </a:ext>
            </a:extLst>
          </p:cNvPr>
          <p:cNvSpPr/>
          <p:nvPr/>
        </p:nvSpPr>
        <p:spPr>
          <a:xfrm>
            <a:off x="9042400" y="2857500"/>
            <a:ext cx="203200" cy="2032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A55259-461F-3A09-F9B6-09976F4BBE80}"/>
              </a:ext>
            </a:extLst>
          </p:cNvPr>
          <p:cNvSpPr txBox="1"/>
          <p:nvPr/>
        </p:nvSpPr>
        <p:spPr>
          <a:xfrm>
            <a:off x="8445500" y="3276600"/>
            <a:ext cx="1397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17211E"/>
                </a:solidFill>
                <a:latin typeface="Aptos" panose="020B0004020202020204" pitchFamily="34" charset="0"/>
              </a:rPr>
              <a:t>8 hours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D2B90-B21B-F56F-02D3-574D8506243A}"/>
              </a:ext>
            </a:extLst>
          </p:cNvPr>
          <p:cNvSpPr txBox="1"/>
          <p:nvPr/>
        </p:nvSpPr>
        <p:spPr>
          <a:xfrm>
            <a:off x="8318500" y="3581400"/>
            <a:ext cx="1651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850">
                <a:solidFill>
                  <a:srgbClr val="60716A"/>
                </a:solidFill>
                <a:latin typeface="Aptos" panose="020B0004020202020204" pitchFamily="34" charset="0"/>
              </a:rPr>
              <a:t>Present threshold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CCD6ABB-3FE7-79A8-30DC-85738DD53F84}"/>
              </a:ext>
            </a:extLst>
          </p:cNvPr>
          <p:cNvSpPr/>
          <p:nvPr/>
        </p:nvSpPr>
        <p:spPr>
          <a:xfrm>
            <a:off x="10820400" y="2857500"/>
            <a:ext cx="203200" cy="203200"/>
          </a:xfrm>
          <a:prstGeom prst="ellipse">
            <a:avLst/>
          </a:prstGeom>
          <a:solidFill>
            <a:srgbClr val="286A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5F41AD-A2C5-A42A-6741-0F94EE1C177A}"/>
              </a:ext>
            </a:extLst>
          </p:cNvPr>
          <p:cNvSpPr txBox="1"/>
          <p:nvPr/>
        </p:nvSpPr>
        <p:spPr>
          <a:xfrm>
            <a:off x="10223500" y="3276600"/>
            <a:ext cx="1397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17211E"/>
                </a:solidFill>
                <a:latin typeface="Aptos" panose="020B0004020202020204" pitchFamily="34" charset="0"/>
              </a:rPr>
              <a:t>Last scan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1CAD33-0E8E-11D7-881A-7B701F95610F}"/>
              </a:ext>
            </a:extLst>
          </p:cNvPr>
          <p:cNvSpPr txBox="1"/>
          <p:nvPr/>
        </p:nvSpPr>
        <p:spPr>
          <a:xfrm>
            <a:off x="10096500" y="3581400"/>
            <a:ext cx="1651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850">
                <a:solidFill>
                  <a:srgbClr val="60716A"/>
                </a:solidFill>
                <a:latin typeface="Aptos" panose="020B0004020202020204" pitchFamily="34" charset="0"/>
              </a:rPr>
              <a:t>Extra time becomes OT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BE8DAE-66E5-6C1E-0E66-AB49988FE18F}"/>
              </a:ext>
            </a:extLst>
          </p:cNvPr>
          <p:cNvSpPr/>
          <p:nvPr/>
        </p:nvSpPr>
        <p:spPr>
          <a:xfrm>
            <a:off x="812800" y="4445000"/>
            <a:ext cx="3200400" cy="1041400"/>
          </a:xfrm>
          <a:prstGeom prst="roundRect">
            <a:avLst/>
          </a:prstGeom>
          <a:solidFill>
            <a:srgbClr val="FBEA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E79C66-5F87-A4AF-0FD1-4C5CA175B30F}"/>
              </a:ext>
            </a:extLst>
          </p:cNvPr>
          <p:cNvSpPr txBox="1"/>
          <p:nvPr/>
        </p:nvSpPr>
        <p:spPr>
          <a:xfrm>
            <a:off x="1041400" y="4635500"/>
            <a:ext cx="27432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B33D45"/>
                </a:solidFill>
                <a:latin typeface="Aptos" panose="020B0004020202020204" pitchFamily="34" charset="0"/>
              </a:rPr>
              <a:t>BELOW 4 HOURS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C22623-841F-4CA8-9F07-3DE7D859503E}"/>
              </a:ext>
            </a:extLst>
          </p:cNvPr>
          <p:cNvSpPr txBox="1"/>
          <p:nvPr/>
        </p:nvSpPr>
        <p:spPr>
          <a:xfrm>
            <a:off x="1041400" y="4953000"/>
            <a:ext cx="2743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 b="1">
                <a:solidFill>
                  <a:srgbClr val="17211E"/>
                </a:solidFill>
                <a:latin typeface="Aptos" panose="020B0004020202020204" pitchFamily="34" charset="0"/>
              </a:rPr>
              <a:t>Sent to admin for final decision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2390938-1584-A373-505A-CDD5C64BA1E8}"/>
              </a:ext>
            </a:extLst>
          </p:cNvPr>
          <p:cNvSpPr/>
          <p:nvPr/>
        </p:nvSpPr>
        <p:spPr>
          <a:xfrm>
            <a:off x="4495800" y="4445000"/>
            <a:ext cx="3200400" cy="1041400"/>
          </a:xfrm>
          <a:prstGeom prst="roundRect">
            <a:avLst/>
          </a:prstGeom>
          <a:solidFill>
            <a:srgbClr val="FFF2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688DBA-C388-E181-F00D-812342D856FB}"/>
              </a:ext>
            </a:extLst>
          </p:cNvPr>
          <p:cNvSpPr txBox="1"/>
          <p:nvPr/>
        </p:nvSpPr>
        <p:spPr>
          <a:xfrm>
            <a:off x="4724400" y="4635500"/>
            <a:ext cx="27432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B87012"/>
                </a:solidFill>
                <a:latin typeface="Aptos" panose="020B0004020202020204" pitchFamily="34" charset="0"/>
              </a:rPr>
              <a:t>4 TO 8 HOURS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0D095A-4646-A310-A544-7AB88817F647}"/>
              </a:ext>
            </a:extLst>
          </p:cNvPr>
          <p:cNvSpPr txBox="1"/>
          <p:nvPr/>
        </p:nvSpPr>
        <p:spPr>
          <a:xfrm>
            <a:off x="4724400" y="4953000"/>
            <a:ext cx="2743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 b="1">
                <a:solidFill>
                  <a:srgbClr val="17211E"/>
                </a:solidFill>
                <a:latin typeface="Aptos" panose="020B0004020202020204" pitchFamily="34" charset="0"/>
              </a:rPr>
              <a:t>Automatically marked Half-day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B492E13-8C29-5782-E526-2472B77387DD}"/>
              </a:ext>
            </a:extLst>
          </p:cNvPr>
          <p:cNvSpPr/>
          <p:nvPr/>
        </p:nvSpPr>
        <p:spPr>
          <a:xfrm>
            <a:off x="8178800" y="4445000"/>
            <a:ext cx="3200400" cy="1041400"/>
          </a:xfrm>
          <a:prstGeom prst="roundRect">
            <a:avLst/>
          </a:prstGeom>
          <a:solidFill>
            <a:srgbClr val="E4F2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2A6F82-B9B7-78EC-2CE6-BB94D2DBD46D}"/>
              </a:ext>
            </a:extLst>
          </p:cNvPr>
          <p:cNvSpPr txBox="1"/>
          <p:nvPr/>
        </p:nvSpPr>
        <p:spPr>
          <a:xfrm>
            <a:off x="8407400" y="4635500"/>
            <a:ext cx="27432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176C58"/>
                </a:solidFill>
                <a:latin typeface="Aptos" panose="020B0004020202020204" pitchFamily="34" charset="0"/>
              </a:rPr>
              <a:t>8 HOURS OR MORE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F9F467-AC1C-1AC9-CC71-B5286DD2A6B6}"/>
              </a:ext>
            </a:extLst>
          </p:cNvPr>
          <p:cNvSpPr txBox="1"/>
          <p:nvPr/>
        </p:nvSpPr>
        <p:spPr>
          <a:xfrm>
            <a:off x="8407400" y="4953000"/>
            <a:ext cx="2743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 b="1">
                <a:solidFill>
                  <a:srgbClr val="17211E"/>
                </a:solidFill>
                <a:latin typeface="Aptos" panose="020B0004020202020204" pitchFamily="34" charset="0"/>
              </a:rPr>
              <a:t>Present, with excess counted as OT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BF11945-DC6E-95E7-E387-0FF916836A89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295B89E-37EA-D23A-9AEB-5E8C9827DB07}"/>
              </a:ext>
            </a:extLst>
          </p:cNvPr>
          <p:cNvSpPr txBox="1"/>
          <p:nvPr/>
        </p:nvSpPr>
        <p:spPr>
          <a:xfrm>
            <a:off x="609600" y="6540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DIGITAL ATTENDANCE | CLIENT PRESENTATION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787B53-5452-6713-79B5-7D7006A35557}"/>
              </a:ext>
            </a:extLst>
          </p:cNvPr>
          <p:cNvSpPr txBox="1"/>
          <p:nvPr/>
        </p:nvSpPr>
        <p:spPr>
          <a:xfrm>
            <a:off x="10922000" y="6540500"/>
            <a:ext cx="660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30118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DFF436-BA00-CBA3-36E3-F80B8D27F1A7}"/>
              </a:ext>
            </a:extLst>
          </p:cNvPr>
          <p:cNvSpPr txBox="1"/>
          <p:nvPr/>
        </p:nvSpPr>
        <p:spPr>
          <a:xfrm>
            <a:off x="609600" y="4064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176C58"/>
                </a:solidFill>
                <a:latin typeface="Aptos" panose="020B0004020202020204" pitchFamily="34" charset="0"/>
              </a:rPr>
              <a:t>07 / ADMIN GOVERNANCE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0655B-6DE8-0310-CB9F-2BA75935D90D}"/>
              </a:ext>
            </a:extLst>
          </p:cNvPr>
          <p:cNvSpPr txBox="1"/>
          <p:nvPr/>
        </p:nvSpPr>
        <p:spPr>
          <a:xfrm>
            <a:off x="609600" y="736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7211E"/>
                </a:solidFill>
                <a:latin typeface="Aptos Display" panose="020B0004020202020204" pitchFamily="34" charset="0"/>
              </a:rPr>
              <a:t>Exceptions remain visible and accountable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A0A0E-C211-6647-50DE-0C2D7664832F}"/>
              </a:ext>
            </a:extLst>
          </p:cNvPr>
          <p:cNvSpPr txBox="1"/>
          <p:nvPr/>
        </p:nvSpPr>
        <p:spPr>
          <a:xfrm>
            <a:off x="609600" y="1320800"/>
            <a:ext cx="10033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60716A"/>
                </a:solidFill>
                <a:latin typeface="Aptos" panose="020B0004020202020204" pitchFamily="34" charset="0"/>
              </a:rPr>
              <a:t>Admin-only controls provide a final decision path without changing the underlying scan history.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007C64-BD86-0660-4852-838075FCD778}"/>
              </a:ext>
            </a:extLst>
          </p:cNvPr>
          <p:cNvSpPr/>
          <p:nvPr/>
        </p:nvSpPr>
        <p:spPr>
          <a:xfrm>
            <a:off x="609600" y="2032000"/>
            <a:ext cx="6477000" cy="393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9712FC-65AF-52E5-709B-8A6675004DCE}"/>
              </a:ext>
            </a:extLst>
          </p:cNvPr>
          <p:cNvSpPr txBox="1"/>
          <p:nvPr/>
        </p:nvSpPr>
        <p:spPr>
          <a:xfrm>
            <a:off x="914400" y="2311400"/>
            <a:ext cx="2921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176C58"/>
                </a:solidFill>
                <a:latin typeface="Aptos" panose="020B0004020202020204" pitchFamily="34" charset="0"/>
              </a:rPr>
              <a:t>FINAL DECISION QUEUE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06B6C-4CD0-ABA3-21FC-E0B54CD716C7}"/>
              </a:ext>
            </a:extLst>
          </p:cNvPr>
          <p:cNvSpPr txBox="1"/>
          <p:nvPr/>
        </p:nvSpPr>
        <p:spPr>
          <a:xfrm>
            <a:off x="914400" y="2628900"/>
            <a:ext cx="3810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17211E"/>
                </a:solidFill>
                <a:latin typeface="Aptos" panose="020B0004020202020204" pitchFamily="34" charset="0"/>
              </a:rPr>
              <a:t>Employee attendance review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DEBCE8-ED4E-863E-F142-99E9CC58BE35}"/>
              </a:ext>
            </a:extLst>
          </p:cNvPr>
          <p:cNvSpPr/>
          <p:nvPr/>
        </p:nvSpPr>
        <p:spPr>
          <a:xfrm>
            <a:off x="914400" y="3200400"/>
            <a:ext cx="5867400" cy="1422400"/>
          </a:xfrm>
          <a:prstGeom prst="roundRect">
            <a:avLst/>
          </a:prstGeom>
          <a:solidFill>
            <a:srgbClr val="F8FAF8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B3DE77-D80F-1A9D-7F80-2862CA3D84A3}"/>
              </a:ext>
            </a:extLst>
          </p:cNvPr>
          <p:cNvSpPr/>
          <p:nvPr/>
        </p:nvSpPr>
        <p:spPr>
          <a:xfrm>
            <a:off x="1143000" y="3441700"/>
            <a:ext cx="482600" cy="482600"/>
          </a:xfrm>
          <a:prstGeom prst="ellipse">
            <a:avLst/>
          </a:prstGeom>
          <a:solidFill>
            <a:srgbClr val="CDE9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115244"/>
                </a:solidFill>
                <a:latin typeface="Aptos" panose="020B0004020202020204" pitchFamily="34" charset="0"/>
              </a:rPr>
              <a:t>JS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B3141-E154-D834-2FDC-AD5983F6F04A}"/>
              </a:ext>
            </a:extLst>
          </p:cNvPr>
          <p:cNvSpPr txBox="1"/>
          <p:nvPr/>
        </p:nvSpPr>
        <p:spPr>
          <a:xfrm>
            <a:off x="1816100" y="34290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17211E"/>
                </a:solidFill>
                <a:latin typeface="Aptos" panose="020B0004020202020204" pitchFamily="34" charset="0"/>
              </a:rPr>
              <a:t>Jordan Smith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3DFA4-7DE7-E15F-BAEB-33942CA8DF67}"/>
              </a:ext>
            </a:extLst>
          </p:cNvPr>
          <p:cNvSpPr txBox="1"/>
          <p:nvPr/>
        </p:nvSpPr>
        <p:spPr>
          <a:xfrm>
            <a:off x="1816100" y="3708400"/>
            <a:ext cx="2159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>
                <a:solidFill>
                  <a:srgbClr val="60716A"/>
                </a:solidFill>
                <a:latin typeface="Aptos" panose="020B0004020202020204" pitchFamily="34" charset="0"/>
              </a:rPr>
              <a:t>EMP-014 | Operations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35BB92-F8FE-333C-F710-6D3F05165D61}"/>
              </a:ext>
            </a:extLst>
          </p:cNvPr>
          <p:cNvSpPr/>
          <p:nvPr/>
        </p:nvSpPr>
        <p:spPr>
          <a:xfrm>
            <a:off x="5029200" y="3441700"/>
            <a:ext cx="1422400" cy="304800"/>
          </a:xfrm>
          <a:prstGeom prst="roundRect">
            <a:avLst/>
          </a:prstGeom>
          <a:solidFill>
            <a:srgbClr val="FFF2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3FD6B-099C-E960-8B9C-92D0FE63C0B9}"/>
              </a:ext>
            </a:extLst>
          </p:cNvPr>
          <p:cNvSpPr txBox="1"/>
          <p:nvPr/>
        </p:nvSpPr>
        <p:spPr>
          <a:xfrm>
            <a:off x="5029200" y="3518644"/>
            <a:ext cx="1422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B87012"/>
                </a:solidFill>
                <a:latin typeface="Aptos" panose="020B0004020202020204" pitchFamily="34" charset="0"/>
              </a:rPr>
              <a:t>NEEDS REVIEW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5E7E1E-ACD5-F42D-C848-3527734B6903}"/>
              </a:ext>
            </a:extLst>
          </p:cNvPr>
          <p:cNvSpPr txBox="1"/>
          <p:nvPr/>
        </p:nvSpPr>
        <p:spPr>
          <a:xfrm>
            <a:off x="1143000" y="41910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First 09:06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7A04C0-F231-412B-BC21-7AD11023CFA3}"/>
              </a:ext>
            </a:extLst>
          </p:cNvPr>
          <p:cNvSpPr txBox="1"/>
          <p:nvPr/>
        </p:nvSpPr>
        <p:spPr>
          <a:xfrm>
            <a:off x="2895600" y="41910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Last 11:48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C77C7-E35C-2B3C-5815-DC67C2E971A7}"/>
              </a:ext>
            </a:extLst>
          </p:cNvPr>
          <p:cNvSpPr txBox="1"/>
          <p:nvPr/>
        </p:nvSpPr>
        <p:spPr>
          <a:xfrm>
            <a:off x="4648200" y="41910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Duration 2h 42m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DF7008-59C1-536C-68A5-C3E6434EDD19}"/>
              </a:ext>
            </a:extLst>
          </p:cNvPr>
          <p:cNvSpPr/>
          <p:nvPr/>
        </p:nvSpPr>
        <p:spPr>
          <a:xfrm>
            <a:off x="914400" y="4902200"/>
            <a:ext cx="2603500" cy="50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A6599D-A569-2CBD-E31E-7549E957BCC2}"/>
              </a:ext>
            </a:extLst>
          </p:cNvPr>
          <p:cNvSpPr txBox="1"/>
          <p:nvPr/>
        </p:nvSpPr>
        <p:spPr>
          <a:xfrm>
            <a:off x="1092200" y="4971450"/>
            <a:ext cx="22225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900" b="1">
                <a:solidFill>
                  <a:srgbClr val="17211E"/>
                </a:solidFill>
                <a:latin typeface="Aptos" panose="020B0004020202020204" pitchFamily="34" charset="0"/>
              </a:rPr>
              <a:t>Final status: Absent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002CB5E-2BAA-9FD6-7E28-D40B28CE0979}"/>
              </a:ext>
            </a:extLst>
          </p:cNvPr>
          <p:cNvSpPr/>
          <p:nvPr/>
        </p:nvSpPr>
        <p:spPr>
          <a:xfrm>
            <a:off x="3721100" y="4902200"/>
            <a:ext cx="1600200" cy="508000"/>
          </a:xfrm>
          <a:prstGeom prst="roundRect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70CED3-9789-5731-078D-54D3CE74A730}"/>
              </a:ext>
            </a:extLst>
          </p:cNvPr>
          <p:cNvSpPr txBox="1"/>
          <p:nvPr/>
        </p:nvSpPr>
        <p:spPr>
          <a:xfrm>
            <a:off x="3721100" y="4971450"/>
            <a:ext cx="16002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SAVE DECISION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C20A377-6836-DA3D-6ABB-CCD484D32D8A}"/>
              </a:ext>
            </a:extLst>
          </p:cNvPr>
          <p:cNvSpPr/>
          <p:nvPr/>
        </p:nvSpPr>
        <p:spPr>
          <a:xfrm>
            <a:off x="7747000" y="2273300"/>
            <a:ext cx="127000" cy="1270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A6A589-0C80-8642-E1B4-98D226D051B8}"/>
              </a:ext>
            </a:extLst>
          </p:cNvPr>
          <p:cNvSpPr txBox="1"/>
          <p:nvPr/>
        </p:nvSpPr>
        <p:spPr>
          <a:xfrm>
            <a:off x="8026400" y="2222500"/>
            <a:ext cx="32766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 b="1">
                <a:solidFill>
                  <a:srgbClr val="17211E"/>
                </a:solidFill>
                <a:latin typeface="Aptos" panose="020B0004020202020204" pitchFamily="34" charset="0"/>
              </a:rPr>
              <a:t>Employee master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FCED72-D9A5-3B1A-5D5D-65A34C0CCA6E}"/>
              </a:ext>
            </a:extLst>
          </p:cNvPr>
          <p:cNvSpPr txBox="1"/>
          <p:nvPr/>
        </p:nvSpPr>
        <p:spPr>
          <a:xfrm>
            <a:off x="8026400" y="2527300"/>
            <a:ext cx="3276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0716A"/>
                </a:solidFill>
                <a:latin typeface="Aptos" panose="020B0004020202020204" pitchFamily="34" charset="0"/>
              </a:rPr>
              <a:t>Create, edit, activate, deactivate, delete, and maintain face registration.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009098-DCE3-A869-4AED-1CFE58DE5006}"/>
              </a:ext>
            </a:extLst>
          </p:cNvPr>
          <p:cNvSpPr/>
          <p:nvPr/>
        </p:nvSpPr>
        <p:spPr>
          <a:xfrm>
            <a:off x="7747000" y="3416300"/>
            <a:ext cx="127000" cy="127000"/>
          </a:xfrm>
          <a:prstGeom prst="ellipse">
            <a:avLst/>
          </a:prstGeom>
          <a:solidFill>
            <a:srgbClr val="286A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179DFA-2895-5E0E-5DFD-CF7BD05E0F6E}"/>
              </a:ext>
            </a:extLst>
          </p:cNvPr>
          <p:cNvSpPr txBox="1"/>
          <p:nvPr/>
        </p:nvSpPr>
        <p:spPr>
          <a:xfrm>
            <a:off x="8026400" y="3365500"/>
            <a:ext cx="32766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 b="1">
                <a:solidFill>
                  <a:srgbClr val="17211E"/>
                </a:solidFill>
                <a:latin typeface="Aptos" panose="020B0004020202020204" pitchFamily="34" charset="0"/>
              </a:rPr>
              <a:t>User management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D86BB4-5561-1DAF-B497-6FF24C51FADF}"/>
              </a:ext>
            </a:extLst>
          </p:cNvPr>
          <p:cNvSpPr txBox="1"/>
          <p:nvPr/>
        </p:nvSpPr>
        <p:spPr>
          <a:xfrm>
            <a:off x="8026400" y="3670300"/>
            <a:ext cx="3276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0716A"/>
                </a:solidFill>
                <a:latin typeface="Aptos" panose="020B0004020202020204" pitchFamily="34" charset="0"/>
              </a:rPr>
              <a:t>Create software users and assign admin or standard access roles.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9C195E7-8B19-08A5-8DC5-5CD14EE5BB94}"/>
              </a:ext>
            </a:extLst>
          </p:cNvPr>
          <p:cNvSpPr/>
          <p:nvPr/>
        </p:nvSpPr>
        <p:spPr>
          <a:xfrm>
            <a:off x="7747000" y="4559300"/>
            <a:ext cx="127000" cy="127000"/>
          </a:xfrm>
          <a:prstGeom prst="ellipse">
            <a:avLst/>
          </a:prstGeom>
          <a:solidFill>
            <a:srgbClr val="B8701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0B3B58-3C36-5364-E5C8-9C323AAFD496}"/>
              </a:ext>
            </a:extLst>
          </p:cNvPr>
          <p:cNvSpPr txBox="1"/>
          <p:nvPr/>
        </p:nvSpPr>
        <p:spPr>
          <a:xfrm>
            <a:off x="8026400" y="4508500"/>
            <a:ext cx="32766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 b="1">
                <a:solidFill>
                  <a:srgbClr val="17211E"/>
                </a:solidFill>
                <a:latin typeface="Aptos" panose="020B0004020202020204" pitchFamily="34" charset="0"/>
              </a:rPr>
              <a:t>Settings control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8BE324-2260-0E91-7BA8-428DAFF7B4C3}"/>
              </a:ext>
            </a:extLst>
          </p:cNvPr>
          <p:cNvSpPr txBox="1"/>
          <p:nvPr/>
        </p:nvSpPr>
        <p:spPr>
          <a:xfrm>
            <a:off x="8026400" y="4813300"/>
            <a:ext cx="3276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0716A"/>
                </a:solidFill>
                <a:latin typeface="Aptos" panose="020B0004020202020204" pitchFamily="34" charset="0"/>
              </a:rPr>
              <a:t>Adjust recognition cooldown while keeping attendance rules transparent.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8544BC-6103-76D9-D848-535392F0E830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28BC4FA-8764-99B5-6F86-A84B8999F964}"/>
              </a:ext>
            </a:extLst>
          </p:cNvPr>
          <p:cNvSpPr txBox="1"/>
          <p:nvPr/>
        </p:nvSpPr>
        <p:spPr>
          <a:xfrm>
            <a:off x="609600" y="6540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DIGITAL ATTENDANCE | CLIENT PRESENTATION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D1E6E5-2E49-A212-7BB1-3255D6953565}"/>
              </a:ext>
            </a:extLst>
          </p:cNvPr>
          <p:cNvSpPr txBox="1"/>
          <p:nvPr/>
        </p:nvSpPr>
        <p:spPr>
          <a:xfrm>
            <a:off x="10922000" y="6540500"/>
            <a:ext cx="660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69194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4630D7-9C44-334D-93A2-48D29E04ECF1}"/>
              </a:ext>
            </a:extLst>
          </p:cNvPr>
          <p:cNvSpPr txBox="1"/>
          <p:nvPr/>
        </p:nvSpPr>
        <p:spPr>
          <a:xfrm>
            <a:off x="609600" y="4064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176C58"/>
                </a:solidFill>
                <a:latin typeface="Aptos" panose="020B0004020202020204" pitchFamily="34" charset="0"/>
              </a:rPr>
              <a:t>08 / DATA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81C1E-4233-BA96-A7DC-5B4DD8AE624F}"/>
              </a:ext>
            </a:extLst>
          </p:cNvPr>
          <p:cNvSpPr txBox="1"/>
          <p:nvPr/>
        </p:nvSpPr>
        <p:spPr>
          <a:xfrm>
            <a:off x="609600" y="736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7211E"/>
                </a:solidFill>
                <a:latin typeface="Aptos Display" panose="020B0004020202020204" pitchFamily="34" charset="0"/>
              </a:rPr>
              <a:t>Excel-only persistence, by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541C7-69CA-AA76-A180-C8A84ABA6D75}"/>
              </a:ext>
            </a:extLst>
          </p:cNvPr>
          <p:cNvSpPr txBox="1"/>
          <p:nvPr/>
        </p:nvSpPr>
        <p:spPr>
          <a:xfrm>
            <a:off x="609600" y="1320800"/>
            <a:ext cx="10033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60716A"/>
                </a:solidFill>
                <a:latin typeface="Aptos" panose="020B0004020202020204" pitchFamily="34" charset="0"/>
              </a:rPr>
              <a:t>The solution avoids an external database while keeping operational records structured and locally controlled.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25FE4E-B01A-F6C6-A562-2A7E05939540}"/>
              </a:ext>
            </a:extLst>
          </p:cNvPr>
          <p:cNvSpPr/>
          <p:nvPr/>
        </p:nvSpPr>
        <p:spPr>
          <a:xfrm>
            <a:off x="685800" y="2184400"/>
            <a:ext cx="2794000" cy="2921000"/>
          </a:xfrm>
          <a:prstGeom prst="roundRect">
            <a:avLst/>
          </a:prstGeom>
          <a:solidFill>
            <a:srgbClr val="1429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8EF97-C27A-291B-8D66-54902C8EF0D3}"/>
              </a:ext>
            </a:extLst>
          </p:cNvPr>
          <p:cNvSpPr txBox="1"/>
          <p:nvPr/>
        </p:nvSpPr>
        <p:spPr>
          <a:xfrm>
            <a:off x="990600" y="2463800"/>
            <a:ext cx="2159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 b="1">
                <a:solidFill>
                  <a:srgbClr val="8EB4A8"/>
                </a:solidFill>
                <a:latin typeface="Aptos" panose="020B0004020202020204" pitchFamily="34" charset="0"/>
              </a:rPr>
              <a:t>LOCAL WEB APP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346F1A-A408-C037-DC51-04310A27EED7}"/>
              </a:ext>
            </a:extLst>
          </p:cNvPr>
          <p:cNvSpPr/>
          <p:nvPr/>
        </p:nvSpPr>
        <p:spPr>
          <a:xfrm>
            <a:off x="1574800" y="2946400"/>
            <a:ext cx="990600" cy="9906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FA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9DAAA7-BB6E-D316-44F6-94348072B4A5}"/>
              </a:ext>
            </a:extLst>
          </p:cNvPr>
          <p:cNvSpPr txBox="1"/>
          <p:nvPr/>
        </p:nvSpPr>
        <p:spPr>
          <a:xfrm>
            <a:off x="1016000" y="4178300"/>
            <a:ext cx="2133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Flask application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859B91-26C0-D397-E512-9E8F3B6ABBA1}"/>
              </a:ext>
            </a:extLst>
          </p:cNvPr>
          <p:cNvSpPr txBox="1"/>
          <p:nvPr/>
        </p:nvSpPr>
        <p:spPr>
          <a:xfrm>
            <a:off x="939800" y="4559300"/>
            <a:ext cx="2286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>
                <a:solidFill>
                  <a:srgbClr val="B5CDC5"/>
                </a:solidFill>
                <a:latin typeface="Aptos" panose="020B0004020202020204" pitchFamily="34" charset="0"/>
              </a:rPr>
              <a:t>Browser camera + face recognition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BA4E68-9420-7B46-494C-8EAE7CD8F02A}"/>
              </a:ext>
            </a:extLst>
          </p:cNvPr>
          <p:cNvCxnSpPr/>
          <p:nvPr/>
        </p:nvCxnSpPr>
        <p:spPr>
          <a:xfrm>
            <a:off x="3492500" y="3632200"/>
            <a:ext cx="1231900" cy="0"/>
          </a:xfrm>
          <a:prstGeom prst="line">
            <a:avLst/>
          </a:prstGeom>
          <a:ln w="38100">
            <a:solidFill>
              <a:srgbClr val="DCE4D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4A9C40-F265-E7FB-216C-D3ECBE7AE34A}"/>
              </a:ext>
            </a:extLst>
          </p:cNvPr>
          <p:cNvSpPr/>
          <p:nvPr/>
        </p:nvSpPr>
        <p:spPr>
          <a:xfrm>
            <a:off x="4851400" y="1981200"/>
            <a:ext cx="3454400" cy="3327400"/>
          </a:xfrm>
          <a:prstGeom prst="roundRect">
            <a:avLst/>
          </a:prstGeom>
          <a:solidFill>
            <a:srgbClr val="E4F2ED"/>
          </a:solidFill>
          <a:ln w="10160">
            <a:solidFill>
              <a:srgbClr val="CD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D77468-F573-F9DE-93EA-42CA7AD61C31}"/>
              </a:ext>
            </a:extLst>
          </p:cNvPr>
          <p:cNvSpPr txBox="1"/>
          <p:nvPr/>
        </p:nvSpPr>
        <p:spPr>
          <a:xfrm>
            <a:off x="5143500" y="2260600"/>
            <a:ext cx="2870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000" b="1">
                <a:solidFill>
                  <a:srgbClr val="115244"/>
                </a:solidFill>
                <a:latin typeface="Aptos" panose="020B0004020202020204" pitchFamily="34" charset="0"/>
              </a:rPr>
              <a:t>ATTENDANCE_RECORDS.XLSX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318EBF3-6513-9EB5-CA5A-5A022C81997B}"/>
              </a:ext>
            </a:extLst>
          </p:cNvPr>
          <p:cNvSpPr/>
          <p:nvPr/>
        </p:nvSpPr>
        <p:spPr>
          <a:xfrm>
            <a:off x="5257800" y="2768600"/>
            <a:ext cx="2641600" cy="3429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CC5354-180C-8A66-8505-2992B8ADCC38}"/>
              </a:ext>
            </a:extLst>
          </p:cNvPr>
          <p:cNvSpPr/>
          <p:nvPr/>
        </p:nvSpPr>
        <p:spPr>
          <a:xfrm>
            <a:off x="5384800" y="2844800"/>
            <a:ext cx="190500" cy="1905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B72513-D5F1-F1CB-76A9-76B8D2449CE0}"/>
              </a:ext>
            </a:extLst>
          </p:cNvPr>
          <p:cNvSpPr txBox="1"/>
          <p:nvPr/>
        </p:nvSpPr>
        <p:spPr>
          <a:xfrm>
            <a:off x="5702300" y="2875950"/>
            <a:ext cx="190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900" b="1">
                <a:solidFill>
                  <a:srgbClr val="17211E"/>
                </a:solidFill>
                <a:latin typeface="Aptos" panose="020B0004020202020204" pitchFamily="34" charset="0"/>
              </a:rPr>
              <a:t>Employees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9A7B76B-C60F-F553-9AB9-9ABCAC20C2C0}"/>
              </a:ext>
            </a:extLst>
          </p:cNvPr>
          <p:cNvSpPr/>
          <p:nvPr/>
        </p:nvSpPr>
        <p:spPr>
          <a:xfrm>
            <a:off x="5257800" y="3213100"/>
            <a:ext cx="2641600" cy="3429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AA96513-0F2C-A3BF-D758-39928290223A}"/>
              </a:ext>
            </a:extLst>
          </p:cNvPr>
          <p:cNvSpPr/>
          <p:nvPr/>
        </p:nvSpPr>
        <p:spPr>
          <a:xfrm>
            <a:off x="5384800" y="3289300"/>
            <a:ext cx="190500" cy="1905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93AB5E-F777-5FEA-C1BC-4E70168FD87A}"/>
              </a:ext>
            </a:extLst>
          </p:cNvPr>
          <p:cNvSpPr txBox="1"/>
          <p:nvPr/>
        </p:nvSpPr>
        <p:spPr>
          <a:xfrm>
            <a:off x="5702300" y="3320450"/>
            <a:ext cx="190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900" b="1">
                <a:solidFill>
                  <a:srgbClr val="17211E"/>
                </a:solidFill>
                <a:latin typeface="Aptos" panose="020B0004020202020204" pitchFamily="34" charset="0"/>
              </a:rPr>
              <a:t>Attendance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3737EE-8EED-346D-6EAB-70317337EC02}"/>
              </a:ext>
            </a:extLst>
          </p:cNvPr>
          <p:cNvSpPr/>
          <p:nvPr/>
        </p:nvSpPr>
        <p:spPr>
          <a:xfrm>
            <a:off x="5257800" y="3657600"/>
            <a:ext cx="2641600" cy="3429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659613D-9830-6044-0F2A-AC1D38744B35}"/>
              </a:ext>
            </a:extLst>
          </p:cNvPr>
          <p:cNvSpPr/>
          <p:nvPr/>
        </p:nvSpPr>
        <p:spPr>
          <a:xfrm>
            <a:off x="5384800" y="3733800"/>
            <a:ext cx="190500" cy="1905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0518F7-DB37-09DD-0F22-08F0988D1418}"/>
              </a:ext>
            </a:extLst>
          </p:cNvPr>
          <p:cNvSpPr txBox="1"/>
          <p:nvPr/>
        </p:nvSpPr>
        <p:spPr>
          <a:xfrm>
            <a:off x="5702300" y="3764950"/>
            <a:ext cx="190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900" b="1">
                <a:solidFill>
                  <a:srgbClr val="17211E"/>
                </a:solidFill>
                <a:latin typeface="Aptos" panose="020B0004020202020204" pitchFamily="34" charset="0"/>
              </a:rPr>
              <a:t>Users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9444BC9-6519-B33D-A978-A8F67CEFE89B}"/>
              </a:ext>
            </a:extLst>
          </p:cNvPr>
          <p:cNvSpPr/>
          <p:nvPr/>
        </p:nvSpPr>
        <p:spPr>
          <a:xfrm>
            <a:off x="5257800" y="4102100"/>
            <a:ext cx="2641600" cy="3429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371DF3B-239C-B08E-4BD3-EDBF994220EC}"/>
              </a:ext>
            </a:extLst>
          </p:cNvPr>
          <p:cNvSpPr/>
          <p:nvPr/>
        </p:nvSpPr>
        <p:spPr>
          <a:xfrm>
            <a:off x="5384800" y="4178300"/>
            <a:ext cx="190500" cy="1905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210536-31F6-A077-45B2-2EE8B7FA76FA}"/>
              </a:ext>
            </a:extLst>
          </p:cNvPr>
          <p:cNvSpPr txBox="1"/>
          <p:nvPr/>
        </p:nvSpPr>
        <p:spPr>
          <a:xfrm>
            <a:off x="5702300" y="4209450"/>
            <a:ext cx="190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900" b="1">
                <a:solidFill>
                  <a:srgbClr val="17211E"/>
                </a:solidFill>
                <a:latin typeface="Aptos" panose="020B0004020202020204" pitchFamily="34" charset="0"/>
              </a:rPr>
              <a:t>Settings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B05C650-21C9-4A4A-794D-3DB8E22C47E9}"/>
              </a:ext>
            </a:extLst>
          </p:cNvPr>
          <p:cNvSpPr/>
          <p:nvPr/>
        </p:nvSpPr>
        <p:spPr>
          <a:xfrm>
            <a:off x="5257800" y="4546600"/>
            <a:ext cx="2641600" cy="3429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C74852E-35E6-0DBC-6D7F-09B33782E481}"/>
              </a:ext>
            </a:extLst>
          </p:cNvPr>
          <p:cNvSpPr/>
          <p:nvPr/>
        </p:nvSpPr>
        <p:spPr>
          <a:xfrm>
            <a:off x="5384800" y="4622800"/>
            <a:ext cx="190500" cy="1905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D767A6-C268-8146-0FA6-CF2382A9FA51}"/>
              </a:ext>
            </a:extLst>
          </p:cNvPr>
          <p:cNvSpPr txBox="1"/>
          <p:nvPr/>
        </p:nvSpPr>
        <p:spPr>
          <a:xfrm>
            <a:off x="5702300" y="4653950"/>
            <a:ext cx="190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900" b="1">
                <a:solidFill>
                  <a:srgbClr val="17211E"/>
                </a:solidFill>
                <a:latin typeface="Aptos" panose="020B0004020202020204" pitchFamily="34" charset="0"/>
              </a:rPr>
              <a:t>Decisions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A8C0F0-8948-EDE3-8F7D-6E07269E5965}"/>
              </a:ext>
            </a:extLst>
          </p:cNvPr>
          <p:cNvCxnSpPr/>
          <p:nvPr/>
        </p:nvCxnSpPr>
        <p:spPr>
          <a:xfrm>
            <a:off x="8318500" y="3632200"/>
            <a:ext cx="876300" cy="0"/>
          </a:xfrm>
          <a:prstGeom prst="line">
            <a:avLst/>
          </a:prstGeom>
          <a:ln w="38100">
            <a:solidFill>
              <a:srgbClr val="DCE4D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E7A3F63-9EDA-394B-F4C4-37BBB333BB38}"/>
              </a:ext>
            </a:extLst>
          </p:cNvPr>
          <p:cNvSpPr/>
          <p:nvPr/>
        </p:nvSpPr>
        <p:spPr>
          <a:xfrm>
            <a:off x="9321800" y="2527300"/>
            <a:ext cx="2209800" cy="2209800"/>
          </a:xfrm>
          <a:prstGeom prst="roundRect">
            <a:avLst/>
          </a:prstGeom>
          <a:solidFill>
            <a:srgbClr val="E7F2FA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54F7BDB-619D-1961-E479-156E3F35B75A}"/>
              </a:ext>
            </a:extLst>
          </p:cNvPr>
          <p:cNvSpPr/>
          <p:nvPr/>
        </p:nvSpPr>
        <p:spPr>
          <a:xfrm>
            <a:off x="10007600" y="2870200"/>
            <a:ext cx="838200" cy="838200"/>
          </a:xfrm>
          <a:prstGeom prst="ellipse">
            <a:avLst/>
          </a:prstGeom>
          <a:solidFill>
            <a:srgbClr val="286A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IMG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D1C4BC-F092-6A04-3D80-49158D723964}"/>
              </a:ext>
            </a:extLst>
          </p:cNvPr>
          <p:cNvSpPr txBox="1"/>
          <p:nvPr/>
        </p:nvSpPr>
        <p:spPr>
          <a:xfrm>
            <a:off x="9575800" y="3937000"/>
            <a:ext cx="17018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17211E"/>
                </a:solidFill>
                <a:latin typeface="Aptos" panose="020B0004020202020204" pitchFamily="34" charset="0"/>
              </a:rPr>
              <a:t>Employee face images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273B55-CEC1-6F8F-1756-E7EC5D1A0079}"/>
              </a:ext>
            </a:extLst>
          </p:cNvPr>
          <p:cNvSpPr txBox="1"/>
          <p:nvPr/>
        </p:nvSpPr>
        <p:spPr>
          <a:xfrm>
            <a:off x="9575800" y="4318000"/>
            <a:ext cx="17018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850">
                <a:solidFill>
                  <a:srgbClr val="60716A"/>
                </a:solidFill>
                <a:latin typeface="Aptos" panose="020B0004020202020204" pitchFamily="34" charset="0"/>
              </a:rPr>
              <a:t>Stored in the local data folder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CFCBE6-36D1-41F0-3ED8-1C7DC87A781A}"/>
              </a:ext>
            </a:extLst>
          </p:cNvPr>
          <p:cNvSpPr txBox="1"/>
          <p:nvPr/>
        </p:nvSpPr>
        <p:spPr>
          <a:xfrm>
            <a:off x="2032000" y="5702300"/>
            <a:ext cx="8128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115244"/>
                </a:solidFill>
                <a:latin typeface="Aptos" panose="020B0004020202020204" pitchFamily="34" charset="0"/>
              </a:rPr>
              <a:t>No external database | Simple backup | Client-controlled files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A4BDDC9-9680-D139-C55A-2338432CA309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8DD0182-ADE8-91B9-2864-EFFE869826DF}"/>
              </a:ext>
            </a:extLst>
          </p:cNvPr>
          <p:cNvSpPr txBox="1"/>
          <p:nvPr/>
        </p:nvSpPr>
        <p:spPr>
          <a:xfrm>
            <a:off x="609600" y="6540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DIGITAL ATTENDANCE | CLIENT PRESENTATION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B7271B-AB55-CE68-F59E-0FD5A7BED322}"/>
              </a:ext>
            </a:extLst>
          </p:cNvPr>
          <p:cNvSpPr txBox="1"/>
          <p:nvPr/>
        </p:nvSpPr>
        <p:spPr>
          <a:xfrm>
            <a:off x="10922000" y="6540500"/>
            <a:ext cx="660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09051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9B168F-1DCA-180D-802F-C24DB6934881}"/>
              </a:ext>
            </a:extLst>
          </p:cNvPr>
          <p:cNvSpPr txBox="1"/>
          <p:nvPr/>
        </p:nvSpPr>
        <p:spPr>
          <a:xfrm>
            <a:off x="609600" y="4064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176C58"/>
                </a:solidFill>
                <a:latin typeface="Aptos" panose="020B0004020202020204" pitchFamily="34" charset="0"/>
              </a:rPr>
              <a:t>09 / RESPONSIVE EXPERIENCE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357E93-1B78-8288-339D-429FDC8E26E5}"/>
              </a:ext>
            </a:extLst>
          </p:cNvPr>
          <p:cNvSpPr txBox="1"/>
          <p:nvPr/>
        </p:nvSpPr>
        <p:spPr>
          <a:xfrm>
            <a:off x="609600" y="736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7211E"/>
                </a:solidFill>
                <a:latin typeface="Aptos Display" panose="020B0004020202020204" pitchFamily="34" charset="0"/>
              </a:rPr>
              <a:t>One interface across operational screens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06B834-D446-71F1-812B-165176B3EE0B}"/>
              </a:ext>
            </a:extLst>
          </p:cNvPr>
          <p:cNvSpPr/>
          <p:nvPr/>
        </p:nvSpPr>
        <p:spPr>
          <a:xfrm>
            <a:off x="787400" y="2247900"/>
            <a:ext cx="5969000" cy="3124200"/>
          </a:xfrm>
          <a:prstGeom prst="roundRect">
            <a:avLst/>
          </a:prstGeom>
          <a:solidFill>
            <a:srgbClr val="232B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587B17-2202-485E-2C1C-9D25883C24AC}"/>
              </a:ext>
            </a:extLst>
          </p:cNvPr>
          <p:cNvSpPr/>
          <p:nvPr/>
        </p:nvSpPr>
        <p:spPr>
          <a:xfrm>
            <a:off x="939800" y="2400300"/>
            <a:ext cx="5664200" cy="2794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707E86-1B64-B2FE-8A00-329A62779D74}"/>
              </a:ext>
            </a:extLst>
          </p:cNvPr>
          <p:cNvSpPr/>
          <p:nvPr/>
        </p:nvSpPr>
        <p:spPr>
          <a:xfrm>
            <a:off x="939800" y="2400300"/>
            <a:ext cx="952500" cy="2794000"/>
          </a:xfrm>
          <a:prstGeom prst="rect">
            <a:avLst/>
          </a:prstGeom>
          <a:solidFill>
            <a:srgbClr val="1429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A96C6A-F69D-9C44-CEE2-FA23195EF2E9}"/>
              </a:ext>
            </a:extLst>
          </p:cNvPr>
          <p:cNvSpPr/>
          <p:nvPr/>
        </p:nvSpPr>
        <p:spPr>
          <a:xfrm>
            <a:off x="1892300" y="2400300"/>
            <a:ext cx="4711700" cy="406400"/>
          </a:xfrm>
          <a:prstGeom prst="rect">
            <a:avLst/>
          </a:prstGeom>
          <a:solidFill>
            <a:srgbClr val="F8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4CE0DB-2692-D3ED-AF09-E30D6928BDA0}"/>
              </a:ext>
            </a:extLst>
          </p:cNvPr>
          <p:cNvSpPr/>
          <p:nvPr/>
        </p:nvSpPr>
        <p:spPr>
          <a:xfrm>
            <a:off x="2108200" y="3098800"/>
            <a:ext cx="685800" cy="66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D20E52-5248-3F1E-ADC7-C7DBEA1390B1}"/>
              </a:ext>
            </a:extLst>
          </p:cNvPr>
          <p:cNvSpPr/>
          <p:nvPr/>
        </p:nvSpPr>
        <p:spPr>
          <a:xfrm>
            <a:off x="2946400" y="3098800"/>
            <a:ext cx="685800" cy="66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F39A39-07C4-F138-E454-FF10F1D9164E}"/>
              </a:ext>
            </a:extLst>
          </p:cNvPr>
          <p:cNvSpPr/>
          <p:nvPr/>
        </p:nvSpPr>
        <p:spPr>
          <a:xfrm>
            <a:off x="3784600" y="3098800"/>
            <a:ext cx="685800" cy="66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2EFCC9-D8A8-04C6-F7BC-14A7007754A6}"/>
              </a:ext>
            </a:extLst>
          </p:cNvPr>
          <p:cNvSpPr/>
          <p:nvPr/>
        </p:nvSpPr>
        <p:spPr>
          <a:xfrm>
            <a:off x="4622800" y="3098800"/>
            <a:ext cx="685800" cy="66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4498B2-3551-C8F0-5985-A3C84F97E8E0}"/>
              </a:ext>
            </a:extLst>
          </p:cNvPr>
          <p:cNvSpPr/>
          <p:nvPr/>
        </p:nvSpPr>
        <p:spPr>
          <a:xfrm>
            <a:off x="5461000" y="3098800"/>
            <a:ext cx="685800" cy="66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E2DE9D7-2749-9666-876C-67C17C84F2D9}"/>
              </a:ext>
            </a:extLst>
          </p:cNvPr>
          <p:cNvSpPr/>
          <p:nvPr/>
        </p:nvSpPr>
        <p:spPr>
          <a:xfrm>
            <a:off x="2108200" y="3975100"/>
            <a:ext cx="2667000" cy="939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2874F2-7B1B-3EEA-1F3F-2AEFBB57A14D}"/>
              </a:ext>
            </a:extLst>
          </p:cNvPr>
          <p:cNvSpPr/>
          <p:nvPr/>
        </p:nvSpPr>
        <p:spPr>
          <a:xfrm>
            <a:off x="4953000" y="3975100"/>
            <a:ext cx="1422400" cy="939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34A0882-B212-A2B2-81F6-7BF2552E011E}"/>
              </a:ext>
            </a:extLst>
          </p:cNvPr>
          <p:cNvSpPr/>
          <p:nvPr/>
        </p:nvSpPr>
        <p:spPr>
          <a:xfrm>
            <a:off x="533400" y="5372100"/>
            <a:ext cx="6477000" cy="165100"/>
          </a:xfrm>
          <a:prstGeom prst="roundRect">
            <a:avLst/>
          </a:prstGeom>
          <a:solidFill>
            <a:srgbClr val="384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7400E3-F1F6-0F9C-CBD9-657943BF364D}"/>
              </a:ext>
            </a:extLst>
          </p:cNvPr>
          <p:cNvSpPr txBox="1"/>
          <p:nvPr/>
        </p:nvSpPr>
        <p:spPr>
          <a:xfrm>
            <a:off x="2540000" y="5702300"/>
            <a:ext cx="241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 b="1">
                <a:solidFill>
                  <a:srgbClr val="60716A"/>
                </a:solidFill>
                <a:latin typeface="Aptos" panose="020B0004020202020204" pitchFamily="34" charset="0"/>
              </a:rPr>
              <a:t>LAPTOP / DESKTOP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8BB54B5-F38D-4A7A-00DF-091E66F76434}"/>
              </a:ext>
            </a:extLst>
          </p:cNvPr>
          <p:cNvSpPr/>
          <p:nvPr/>
        </p:nvSpPr>
        <p:spPr>
          <a:xfrm>
            <a:off x="7543800" y="2349500"/>
            <a:ext cx="2413000" cy="3124200"/>
          </a:xfrm>
          <a:prstGeom prst="roundRect">
            <a:avLst/>
          </a:prstGeom>
          <a:solidFill>
            <a:srgbClr val="232B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FED6B91-5AF6-4AE2-A3D3-3632331C3633}"/>
              </a:ext>
            </a:extLst>
          </p:cNvPr>
          <p:cNvSpPr/>
          <p:nvPr/>
        </p:nvSpPr>
        <p:spPr>
          <a:xfrm>
            <a:off x="7683500" y="2514600"/>
            <a:ext cx="2133600" cy="2794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1CEC48-C667-CFAF-35B4-EBF179F997EA}"/>
              </a:ext>
            </a:extLst>
          </p:cNvPr>
          <p:cNvSpPr/>
          <p:nvPr/>
        </p:nvSpPr>
        <p:spPr>
          <a:xfrm>
            <a:off x="7683500" y="2514600"/>
            <a:ext cx="2133600" cy="355600"/>
          </a:xfrm>
          <a:prstGeom prst="rect">
            <a:avLst/>
          </a:prstGeom>
          <a:solidFill>
            <a:srgbClr val="F8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3F473E5-0DB5-272B-C427-A52049795B56}"/>
              </a:ext>
            </a:extLst>
          </p:cNvPr>
          <p:cNvSpPr/>
          <p:nvPr/>
        </p:nvSpPr>
        <p:spPr>
          <a:xfrm>
            <a:off x="7848600" y="3149600"/>
            <a:ext cx="787400" cy="66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437118D-6F82-4520-7F0D-408A66A79B90}"/>
              </a:ext>
            </a:extLst>
          </p:cNvPr>
          <p:cNvSpPr/>
          <p:nvPr/>
        </p:nvSpPr>
        <p:spPr>
          <a:xfrm>
            <a:off x="8763000" y="3149600"/>
            <a:ext cx="787400" cy="66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02A44BF-86A6-7471-E711-C207232C495A}"/>
              </a:ext>
            </a:extLst>
          </p:cNvPr>
          <p:cNvSpPr/>
          <p:nvPr/>
        </p:nvSpPr>
        <p:spPr>
          <a:xfrm>
            <a:off x="7848600" y="3937000"/>
            <a:ext cx="787400" cy="66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F3F91FC-9A91-D8FF-E343-960A67CB772D}"/>
              </a:ext>
            </a:extLst>
          </p:cNvPr>
          <p:cNvSpPr/>
          <p:nvPr/>
        </p:nvSpPr>
        <p:spPr>
          <a:xfrm>
            <a:off x="8763000" y="3937000"/>
            <a:ext cx="787400" cy="66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5D450E8-1549-7506-9D06-BF3994A3C168}"/>
              </a:ext>
            </a:extLst>
          </p:cNvPr>
          <p:cNvSpPr/>
          <p:nvPr/>
        </p:nvSpPr>
        <p:spPr>
          <a:xfrm>
            <a:off x="7848600" y="4749800"/>
            <a:ext cx="1701800" cy="330200"/>
          </a:xfrm>
          <a:prstGeom prst="roundRect">
            <a:avLst/>
          </a:prstGeom>
          <a:solidFill>
            <a:srgbClr val="E4F2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1D8E02-1E0E-FC4B-9599-E54742DB7642}"/>
              </a:ext>
            </a:extLst>
          </p:cNvPr>
          <p:cNvSpPr txBox="1"/>
          <p:nvPr/>
        </p:nvSpPr>
        <p:spPr>
          <a:xfrm>
            <a:off x="8064500" y="57023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 b="1">
                <a:solidFill>
                  <a:srgbClr val="60716A"/>
                </a:solidFill>
                <a:latin typeface="Aptos" panose="020B0004020202020204" pitchFamily="34" charset="0"/>
              </a:rPr>
              <a:t>TABLET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1127563-9A1B-F250-7AF7-A3D648FEDB1E}"/>
              </a:ext>
            </a:extLst>
          </p:cNvPr>
          <p:cNvSpPr/>
          <p:nvPr/>
        </p:nvSpPr>
        <p:spPr>
          <a:xfrm>
            <a:off x="10439400" y="2730500"/>
            <a:ext cx="1041400" cy="2565400"/>
          </a:xfrm>
          <a:prstGeom prst="roundRect">
            <a:avLst/>
          </a:prstGeom>
          <a:solidFill>
            <a:srgbClr val="232B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43CB7BC-2605-B5BF-2C23-DD2C8E8D5C60}"/>
              </a:ext>
            </a:extLst>
          </p:cNvPr>
          <p:cNvSpPr/>
          <p:nvPr/>
        </p:nvSpPr>
        <p:spPr>
          <a:xfrm>
            <a:off x="10515600" y="2870200"/>
            <a:ext cx="889000" cy="2260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1427C1-A78C-0B6B-EA89-84D3F90813E5}"/>
              </a:ext>
            </a:extLst>
          </p:cNvPr>
          <p:cNvSpPr/>
          <p:nvPr/>
        </p:nvSpPr>
        <p:spPr>
          <a:xfrm>
            <a:off x="10515600" y="2870200"/>
            <a:ext cx="889000" cy="254000"/>
          </a:xfrm>
          <a:prstGeom prst="rect">
            <a:avLst/>
          </a:prstGeom>
          <a:solidFill>
            <a:srgbClr val="1429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09279AE-806E-E3CC-7F85-701FD165B8B0}"/>
              </a:ext>
            </a:extLst>
          </p:cNvPr>
          <p:cNvSpPr/>
          <p:nvPr/>
        </p:nvSpPr>
        <p:spPr>
          <a:xfrm>
            <a:off x="10617200" y="3314700"/>
            <a:ext cx="685800" cy="355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B288BA9-E45F-C609-5C42-CC2F50EF82CA}"/>
              </a:ext>
            </a:extLst>
          </p:cNvPr>
          <p:cNvSpPr/>
          <p:nvPr/>
        </p:nvSpPr>
        <p:spPr>
          <a:xfrm>
            <a:off x="10617200" y="3797300"/>
            <a:ext cx="685800" cy="355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CEA324E-1801-38AC-C117-619E5CBF9B6A}"/>
              </a:ext>
            </a:extLst>
          </p:cNvPr>
          <p:cNvSpPr/>
          <p:nvPr/>
        </p:nvSpPr>
        <p:spPr>
          <a:xfrm>
            <a:off x="10617200" y="4279900"/>
            <a:ext cx="685800" cy="355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30AA14-97DB-322F-BF7E-92368A751399}"/>
              </a:ext>
            </a:extLst>
          </p:cNvPr>
          <p:cNvSpPr txBox="1"/>
          <p:nvPr/>
        </p:nvSpPr>
        <p:spPr>
          <a:xfrm>
            <a:off x="10248900" y="5702300"/>
            <a:ext cx="1422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900" b="1">
                <a:solidFill>
                  <a:srgbClr val="60716A"/>
                </a:solidFill>
                <a:latin typeface="Aptos" panose="020B0004020202020204" pitchFamily="34" charset="0"/>
              </a:rPr>
              <a:t>MOBILE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4E88FE-DD6E-7D6A-6FE9-826F3588EAEC}"/>
              </a:ext>
            </a:extLst>
          </p:cNvPr>
          <p:cNvSpPr/>
          <p:nvPr/>
        </p:nvSpPr>
        <p:spPr>
          <a:xfrm>
            <a:off x="609600" y="1320800"/>
            <a:ext cx="10033000" cy="406400"/>
          </a:xfrm>
          <a:prstGeom prst="rect">
            <a:avLst/>
          </a:prstGeom>
          <a:solidFill>
            <a:srgbClr val="F4F6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60716A"/>
                </a:solidFill>
                <a:latin typeface="Aptos" panose="020B0004020202020204" pitchFamily="34" charset="0"/>
              </a:rPr>
              <a:t>The shared layout adapts from mobile attendance checks to desktop administration and large displays.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0885FE9-4A4B-ED8C-4A4E-429DAB2A582B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FDA09E6-F924-156E-CA5A-69DEB204ADB2}"/>
              </a:ext>
            </a:extLst>
          </p:cNvPr>
          <p:cNvSpPr txBox="1"/>
          <p:nvPr/>
        </p:nvSpPr>
        <p:spPr>
          <a:xfrm>
            <a:off x="609600" y="6540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DIGITAL ATTENDANCE | CLIENT PRESENTATION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0B662D-95E8-EBAA-ED21-D4B938420377}"/>
              </a:ext>
            </a:extLst>
          </p:cNvPr>
          <p:cNvSpPr txBox="1"/>
          <p:nvPr/>
        </p:nvSpPr>
        <p:spPr>
          <a:xfrm>
            <a:off x="10922000" y="6540500"/>
            <a:ext cx="660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1960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7DB80A-C310-BF93-5EA1-AF097015AA20}"/>
              </a:ext>
            </a:extLst>
          </p:cNvPr>
          <p:cNvSpPr txBox="1"/>
          <p:nvPr/>
        </p:nvSpPr>
        <p:spPr>
          <a:xfrm>
            <a:off x="609600" y="4064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176C58"/>
                </a:solidFill>
                <a:latin typeface="Aptos" panose="020B0004020202020204" pitchFamily="34" charset="0"/>
              </a:rPr>
              <a:t>10 / OPERATING CONTROLS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4FE2E-DF5E-3DFC-17B7-DB7EE603885F}"/>
              </a:ext>
            </a:extLst>
          </p:cNvPr>
          <p:cNvSpPr txBox="1"/>
          <p:nvPr/>
        </p:nvSpPr>
        <p:spPr>
          <a:xfrm>
            <a:off x="609600" y="736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7211E"/>
                </a:solidFill>
                <a:latin typeface="Aptos Display" panose="020B0004020202020204" pitchFamily="34" charset="0"/>
              </a:rPr>
              <a:t>Secure operation starts with clear ownership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FF9331-04F7-3EF4-0F5A-830A428967F6}"/>
              </a:ext>
            </a:extLst>
          </p:cNvPr>
          <p:cNvSpPr txBox="1"/>
          <p:nvPr/>
        </p:nvSpPr>
        <p:spPr>
          <a:xfrm>
            <a:off x="609600" y="1320800"/>
            <a:ext cx="10033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60716A"/>
                </a:solidFill>
                <a:latin typeface="Aptos" panose="020B0004020202020204" pitchFamily="34" charset="0"/>
              </a:rPr>
              <a:t>The application includes practical controls today, supported by a straightforward client go-live checklist.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E08B00-ECBF-9018-9645-186D136B71CD}"/>
              </a:ext>
            </a:extLst>
          </p:cNvPr>
          <p:cNvSpPr/>
          <p:nvPr/>
        </p:nvSpPr>
        <p:spPr>
          <a:xfrm>
            <a:off x="609600" y="1968500"/>
            <a:ext cx="5207000" cy="4038600"/>
          </a:xfrm>
          <a:prstGeom prst="roundRect">
            <a:avLst/>
          </a:prstGeom>
          <a:solidFill>
            <a:srgbClr val="E4F2ED"/>
          </a:solidFill>
          <a:ln w="10160">
            <a:solidFill>
              <a:srgbClr val="CD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06CEDE-9AFB-7A1D-4B02-9DE3ED5D9D7E}"/>
              </a:ext>
            </a:extLst>
          </p:cNvPr>
          <p:cNvSpPr txBox="1"/>
          <p:nvPr/>
        </p:nvSpPr>
        <p:spPr>
          <a:xfrm>
            <a:off x="914400" y="22733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176C58"/>
                </a:solidFill>
                <a:latin typeface="Aptos" panose="020B0004020202020204" pitchFamily="34" charset="0"/>
              </a:rPr>
              <a:t>BUILT INTO THE APPLICATION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23111F-FF1D-6447-B4C5-99241CC3F334}"/>
              </a:ext>
            </a:extLst>
          </p:cNvPr>
          <p:cNvSpPr/>
          <p:nvPr/>
        </p:nvSpPr>
        <p:spPr>
          <a:xfrm>
            <a:off x="914400" y="2743200"/>
            <a:ext cx="304800" cy="3048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196B8B-470D-E736-4081-9B892167A3CC}"/>
              </a:ext>
            </a:extLst>
          </p:cNvPr>
          <p:cNvSpPr txBox="1"/>
          <p:nvPr/>
        </p:nvSpPr>
        <p:spPr>
          <a:xfrm>
            <a:off x="1371600" y="2800908"/>
            <a:ext cx="4064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050">
                <a:solidFill>
                  <a:srgbClr val="17211E"/>
                </a:solidFill>
                <a:latin typeface="Aptos" panose="020B0004020202020204" pitchFamily="34" charset="0"/>
              </a:rPr>
              <a:t>Password hashes instead of stored plain-text passwords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1FDF8B-53CB-A9B1-C6BE-9A47EA4EFE6A}"/>
              </a:ext>
            </a:extLst>
          </p:cNvPr>
          <p:cNvSpPr/>
          <p:nvPr/>
        </p:nvSpPr>
        <p:spPr>
          <a:xfrm>
            <a:off x="914400" y="3314700"/>
            <a:ext cx="304800" cy="3048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B6BB5E-2133-1C44-1E57-2EE0B7F09301}"/>
              </a:ext>
            </a:extLst>
          </p:cNvPr>
          <p:cNvSpPr txBox="1"/>
          <p:nvPr/>
        </p:nvSpPr>
        <p:spPr>
          <a:xfrm>
            <a:off x="1371600" y="3372408"/>
            <a:ext cx="4064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050">
                <a:solidFill>
                  <a:srgbClr val="17211E"/>
                </a:solidFill>
                <a:latin typeface="Aptos" panose="020B0004020202020204" pitchFamily="34" charset="0"/>
              </a:rPr>
              <a:t>Admin-only employee, user, settings, and decision controls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B26332B-ACB1-CF3C-1D99-F4A47C297A3D}"/>
              </a:ext>
            </a:extLst>
          </p:cNvPr>
          <p:cNvSpPr/>
          <p:nvPr/>
        </p:nvSpPr>
        <p:spPr>
          <a:xfrm>
            <a:off x="914400" y="3886200"/>
            <a:ext cx="304800" cy="3048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1768C5-25CB-63FB-2B6E-70B926E83EED}"/>
              </a:ext>
            </a:extLst>
          </p:cNvPr>
          <p:cNvSpPr txBox="1"/>
          <p:nvPr/>
        </p:nvSpPr>
        <p:spPr>
          <a:xfrm>
            <a:off x="1371600" y="3943908"/>
            <a:ext cx="4064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050">
                <a:solidFill>
                  <a:srgbClr val="17211E"/>
                </a:solidFill>
                <a:latin typeface="Aptos" panose="020B0004020202020204" pitchFamily="34" charset="0"/>
              </a:rPr>
              <a:t>Active and inactive access status for employees and users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952025-269C-6DA9-AD03-036BF8A83A3F}"/>
              </a:ext>
            </a:extLst>
          </p:cNvPr>
          <p:cNvSpPr/>
          <p:nvPr/>
        </p:nvSpPr>
        <p:spPr>
          <a:xfrm>
            <a:off x="914400" y="4457700"/>
            <a:ext cx="304800" cy="3048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D49F3E-C210-B8FB-6AD4-01114DB94653}"/>
              </a:ext>
            </a:extLst>
          </p:cNvPr>
          <p:cNvSpPr txBox="1"/>
          <p:nvPr/>
        </p:nvSpPr>
        <p:spPr>
          <a:xfrm>
            <a:off x="1371600" y="4515408"/>
            <a:ext cx="4064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050">
                <a:solidFill>
                  <a:srgbClr val="17211E"/>
                </a:solidFill>
                <a:latin typeface="Aptos" panose="020B0004020202020204" pitchFamily="34" charset="0"/>
              </a:rPr>
              <a:t>Clean error handling for workbook locks and invalid actions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E05F390-8618-A3DC-79B8-F347719EAAFC}"/>
              </a:ext>
            </a:extLst>
          </p:cNvPr>
          <p:cNvSpPr/>
          <p:nvPr/>
        </p:nvSpPr>
        <p:spPr>
          <a:xfrm>
            <a:off x="914400" y="5029200"/>
            <a:ext cx="304800" cy="304800"/>
          </a:xfrm>
          <a:prstGeom prst="ellipse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96411-5B3A-92DF-CD2C-04F684983BD3}"/>
              </a:ext>
            </a:extLst>
          </p:cNvPr>
          <p:cNvSpPr txBox="1"/>
          <p:nvPr/>
        </p:nvSpPr>
        <p:spPr>
          <a:xfrm>
            <a:off x="1371600" y="5086908"/>
            <a:ext cx="4064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050">
                <a:solidFill>
                  <a:srgbClr val="17211E"/>
                </a:solidFill>
                <a:latin typeface="Aptos" panose="020B0004020202020204" pitchFamily="34" charset="0"/>
              </a:rPr>
              <a:t>Local storage of attendance records and face references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EB6CF93-A912-D16C-BF35-46E094B7355A}"/>
              </a:ext>
            </a:extLst>
          </p:cNvPr>
          <p:cNvSpPr/>
          <p:nvPr/>
        </p:nvSpPr>
        <p:spPr>
          <a:xfrm>
            <a:off x="6172200" y="1968500"/>
            <a:ext cx="5410200" cy="4038600"/>
          </a:xfrm>
          <a:prstGeom prst="roundRect">
            <a:avLst/>
          </a:prstGeom>
          <a:solidFill>
            <a:srgbClr val="F4F6F4"/>
          </a:solidFill>
          <a:ln w="10160">
            <a:solidFill>
              <a:srgbClr val="DCE4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383DA6-5B4B-30C9-3289-8C15B0C8872D}"/>
              </a:ext>
            </a:extLst>
          </p:cNvPr>
          <p:cNvSpPr txBox="1"/>
          <p:nvPr/>
        </p:nvSpPr>
        <p:spPr>
          <a:xfrm>
            <a:off x="6477000" y="2273300"/>
            <a:ext cx="3937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286A9B"/>
                </a:solidFill>
                <a:latin typeface="Aptos" panose="020B0004020202020204" pitchFamily="34" charset="0"/>
              </a:rPr>
              <a:t>CLIENT GO-LIVE CHECKLIST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20E613-DC75-EF26-1096-112AEE9C5B78}"/>
              </a:ext>
            </a:extLst>
          </p:cNvPr>
          <p:cNvSpPr/>
          <p:nvPr/>
        </p:nvSpPr>
        <p:spPr>
          <a:xfrm>
            <a:off x="6477000" y="2743200"/>
            <a:ext cx="304800" cy="304800"/>
          </a:xfrm>
          <a:prstGeom prst="ellipse">
            <a:avLst/>
          </a:prstGeom>
          <a:solidFill>
            <a:srgbClr val="E7F2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b="1">
              <a:solidFill>
                <a:srgbClr val="286A9B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8999CC-3489-C094-4C2A-7DED3A69510A}"/>
              </a:ext>
            </a:extLst>
          </p:cNvPr>
          <p:cNvSpPr txBox="1"/>
          <p:nvPr/>
        </p:nvSpPr>
        <p:spPr>
          <a:xfrm>
            <a:off x="6477000" y="2827838"/>
            <a:ext cx="304800" cy="10772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700" b="1">
                <a:solidFill>
                  <a:srgbClr val="286A9B"/>
                </a:solidFill>
                <a:latin typeface="Aptos" panose="020B0004020202020204" pitchFamily="34" charset="0"/>
              </a:rPr>
              <a:t>OK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F89E1F-59BE-BBFD-CA25-9BBE72CFE3CF}"/>
              </a:ext>
            </a:extLst>
          </p:cNvPr>
          <p:cNvSpPr txBox="1"/>
          <p:nvPr/>
        </p:nvSpPr>
        <p:spPr>
          <a:xfrm>
            <a:off x="6934200" y="2800908"/>
            <a:ext cx="4191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050">
                <a:solidFill>
                  <a:srgbClr val="17211E"/>
                </a:solidFill>
                <a:latin typeface="Aptos" panose="020B0004020202020204" pitchFamily="34" charset="0"/>
              </a:rPr>
              <a:t>Change the default admin password before use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1D3D9C1-4545-3763-6036-D42EE55CB99C}"/>
              </a:ext>
            </a:extLst>
          </p:cNvPr>
          <p:cNvSpPr/>
          <p:nvPr/>
        </p:nvSpPr>
        <p:spPr>
          <a:xfrm>
            <a:off x="6477000" y="3314700"/>
            <a:ext cx="304800" cy="304800"/>
          </a:xfrm>
          <a:prstGeom prst="ellipse">
            <a:avLst/>
          </a:prstGeom>
          <a:solidFill>
            <a:srgbClr val="E7F2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b="1">
              <a:solidFill>
                <a:srgbClr val="286A9B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6F82D6-B978-57DC-5D66-67C8700075BC}"/>
              </a:ext>
            </a:extLst>
          </p:cNvPr>
          <p:cNvSpPr txBox="1"/>
          <p:nvPr/>
        </p:nvSpPr>
        <p:spPr>
          <a:xfrm>
            <a:off x="6477000" y="3399338"/>
            <a:ext cx="304800" cy="10772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700" b="1">
                <a:solidFill>
                  <a:srgbClr val="286A9B"/>
                </a:solidFill>
                <a:latin typeface="Aptos" panose="020B0004020202020204" pitchFamily="34" charset="0"/>
              </a:rPr>
              <a:t>OK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5DE964-7483-E557-40CC-B70DCCEC0947}"/>
              </a:ext>
            </a:extLst>
          </p:cNvPr>
          <p:cNvSpPr txBox="1"/>
          <p:nvPr/>
        </p:nvSpPr>
        <p:spPr>
          <a:xfrm>
            <a:off x="6934200" y="3372408"/>
            <a:ext cx="4191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050">
                <a:solidFill>
                  <a:srgbClr val="17211E"/>
                </a:solidFill>
                <a:latin typeface="Aptos" panose="020B0004020202020204" pitchFamily="34" charset="0"/>
              </a:rPr>
              <a:t>Define a regular workbook and face-image backup routine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AAE4495-F9CC-7DEC-6E07-59E95B4B6C85}"/>
              </a:ext>
            </a:extLst>
          </p:cNvPr>
          <p:cNvSpPr/>
          <p:nvPr/>
        </p:nvSpPr>
        <p:spPr>
          <a:xfrm>
            <a:off x="6477000" y="3886200"/>
            <a:ext cx="304800" cy="304800"/>
          </a:xfrm>
          <a:prstGeom prst="ellipse">
            <a:avLst/>
          </a:prstGeom>
          <a:solidFill>
            <a:srgbClr val="E7F2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b="1">
              <a:solidFill>
                <a:srgbClr val="286A9B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828180-5C2D-E864-21EB-C15F62DD6C0E}"/>
              </a:ext>
            </a:extLst>
          </p:cNvPr>
          <p:cNvSpPr txBox="1"/>
          <p:nvPr/>
        </p:nvSpPr>
        <p:spPr>
          <a:xfrm>
            <a:off x="6477000" y="3970838"/>
            <a:ext cx="304800" cy="10772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700" b="1">
                <a:solidFill>
                  <a:srgbClr val="286A9B"/>
                </a:solidFill>
                <a:latin typeface="Aptos" panose="020B0004020202020204" pitchFamily="34" charset="0"/>
              </a:rPr>
              <a:t>OK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9DAE8F-B365-4565-0A8C-C1B62C79EA08}"/>
              </a:ext>
            </a:extLst>
          </p:cNvPr>
          <p:cNvSpPr txBox="1"/>
          <p:nvPr/>
        </p:nvSpPr>
        <p:spPr>
          <a:xfrm>
            <a:off x="6934200" y="3943908"/>
            <a:ext cx="4191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050">
                <a:solidFill>
                  <a:srgbClr val="17211E"/>
                </a:solidFill>
                <a:latin typeface="Aptos" panose="020B0004020202020204" pitchFamily="34" charset="0"/>
              </a:rPr>
              <a:t>Keep the workbook closed while the application writes records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50EEA73-E86D-1345-CF70-74318E5B0F40}"/>
              </a:ext>
            </a:extLst>
          </p:cNvPr>
          <p:cNvSpPr/>
          <p:nvPr/>
        </p:nvSpPr>
        <p:spPr>
          <a:xfrm>
            <a:off x="6477000" y="4457700"/>
            <a:ext cx="304800" cy="304800"/>
          </a:xfrm>
          <a:prstGeom prst="ellipse">
            <a:avLst/>
          </a:prstGeom>
          <a:solidFill>
            <a:srgbClr val="E7F2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b="1">
              <a:solidFill>
                <a:srgbClr val="286A9B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8D95DF-4231-0742-4EB8-3A5F7C7D5914}"/>
              </a:ext>
            </a:extLst>
          </p:cNvPr>
          <p:cNvSpPr txBox="1"/>
          <p:nvPr/>
        </p:nvSpPr>
        <p:spPr>
          <a:xfrm>
            <a:off x="6477000" y="4542338"/>
            <a:ext cx="304800" cy="10772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700" b="1">
                <a:solidFill>
                  <a:srgbClr val="286A9B"/>
                </a:solidFill>
                <a:latin typeface="Aptos" panose="020B0004020202020204" pitchFamily="34" charset="0"/>
              </a:rPr>
              <a:t>OK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DC87A1-4E31-031C-CFDF-F85120CFDFF2}"/>
              </a:ext>
            </a:extLst>
          </p:cNvPr>
          <p:cNvSpPr txBox="1"/>
          <p:nvPr/>
        </p:nvSpPr>
        <p:spPr>
          <a:xfrm>
            <a:off x="6934200" y="4515408"/>
            <a:ext cx="4191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050">
                <a:solidFill>
                  <a:srgbClr val="17211E"/>
                </a:solidFill>
                <a:latin typeface="Aptos" panose="020B0004020202020204" pitchFamily="34" charset="0"/>
              </a:rPr>
              <a:t>Restrict workstation and folder access to authorized personnel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6943F2C-93C9-4CDB-679C-3D0ED3B9EB27}"/>
              </a:ext>
            </a:extLst>
          </p:cNvPr>
          <p:cNvSpPr/>
          <p:nvPr/>
        </p:nvSpPr>
        <p:spPr>
          <a:xfrm>
            <a:off x="6477000" y="5029200"/>
            <a:ext cx="304800" cy="304800"/>
          </a:xfrm>
          <a:prstGeom prst="ellipse">
            <a:avLst/>
          </a:prstGeom>
          <a:solidFill>
            <a:srgbClr val="E7F2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b="1">
              <a:solidFill>
                <a:srgbClr val="286A9B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2F29FE-C76B-8E1B-F72A-0906780A717F}"/>
              </a:ext>
            </a:extLst>
          </p:cNvPr>
          <p:cNvSpPr txBox="1"/>
          <p:nvPr/>
        </p:nvSpPr>
        <p:spPr>
          <a:xfrm>
            <a:off x="6477000" y="5113838"/>
            <a:ext cx="304800" cy="10772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700" b="1">
                <a:solidFill>
                  <a:srgbClr val="286A9B"/>
                </a:solidFill>
                <a:latin typeface="Aptos" panose="020B0004020202020204" pitchFamily="34" charset="0"/>
              </a:rPr>
              <a:t>OK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AEA5DB-2E4C-842E-5EC4-1E52476F8AED}"/>
              </a:ext>
            </a:extLst>
          </p:cNvPr>
          <p:cNvSpPr txBox="1"/>
          <p:nvPr/>
        </p:nvSpPr>
        <p:spPr>
          <a:xfrm>
            <a:off x="6934200" y="5086908"/>
            <a:ext cx="4191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050">
                <a:solidFill>
                  <a:srgbClr val="17211E"/>
                </a:solidFill>
                <a:latin typeface="Aptos" panose="020B0004020202020204" pitchFamily="34" charset="0"/>
              </a:rPr>
              <a:t>Use HTTPS when exposing camera access beyond localhost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515C52A-8F87-0E23-B20B-668AD8627CB9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220E1DD-B528-DF2D-3C8E-4442B2D9A085}"/>
              </a:ext>
            </a:extLst>
          </p:cNvPr>
          <p:cNvSpPr txBox="1"/>
          <p:nvPr/>
        </p:nvSpPr>
        <p:spPr>
          <a:xfrm>
            <a:off x="609600" y="6540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DIGITAL ATTENDANCE | CLIENT PRESENTATION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29363B-5E94-54E8-7EA1-09D47C4C502C}"/>
              </a:ext>
            </a:extLst>
          </p:cNvPr>
          <p:cNvSpPr txBox="1"/>
          <p:nvPr/>
        </p:nvSpPr>
        <p:spPr>
          <a:xfrm>
            <a:off x="10922000" y="6540500"/>
            <a:ext cx="660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5180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3A67E6-D3ED-FCAA-9A0A-B8E214912FDD}"/>
              </a:ext>
            </a:extLst>
          </p:cNvPr>
          <p:cNvSpPr txBox="1"/>
          <p:nvPr/>
        </p:nvSpPr>
        <p:spPr>
          <a:xfrm>
            <a:off x="685800" y="5080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81BEAC"/>
                </a:solidFill>
                <a:latin typeface="Aptos" panose="020B0004020202020204" pitchFamily="34" charset="0"/>
              </a:rPr>
              <a:t>11 / RECOMMENDED ROLLOUT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DA8538-FF7A-A7E2-8E34-CD4AF9C6B2AC}"/>
              </a:ext>
            </a:extLst>
          </p:cNvPr>
          <p:cNvSpPr txBox="1"/>
          <p:nvPr/>
        </p:nvSpPr>
        <p:spPr>
          <a:xfrm>
            <a:off x="685800" y="1676400"/>
            <a:ext cx="9144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60716A"/>
                </a:solidFill>
                <a:latin typeface="Aptos" panose="020B0004020202020204" pitchFamily="34" charset="0"/>
              </a:rPr>
              <a:t>Start with policy confirmation, validate on a pilot workstation, then move into controlled daily use.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F964AC-AB9A-8CCF-1297-6B04F1517683}"/>
              </a:ext>
            </a:extLst>
          </p:cNvPr>
          <p:cNvSpPr/>
          <p:nvPr/>
        </p:nvSpPr>
        <p:spPr>
          <a:xfrm>
            <a:off x="685800" y="2552700"/>
            <a:ext cx="2501900" cy="1993900"/>
          </a:xfrm>
          <a:prstGeom prst="roundRect">
            <a:avLst/>
          </a:prstGeom>
          <a:solidFill>
            <a:srgbClr val="1D3730"/>
          </a:solidFill>
          <a:ln w="10160">
            <a:solidFill>
              <a:srgbClr val="365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06E8AB-000A-1D1A-A573-0EF8732C8C6C}"/>
              </a:ext>
            </a:extLst>
          </p:cNvPr>
          <p:cNvSpPr txBox="1"/>
          <p:nvPr/>
        </p:nvSpPr>
        <p:spPr>
          <a:xfrm>
            <a:off x="914400" y="2781300"/>
            <a:ext cx="558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7EBBA9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FB3B1-D4C2-3185-5687-F24C3024D98E}"/>
              </a:ext>
            </a:extLst>
          </p:cNvPr>
          <p:cNvSpPr txBox="1"/>
          <p:nvPr/>
        </p:nvSpPr>
        <p:spPr>
          <a:xfrm>
            <a:off x="914400" y="3200400"/>
            <a:ext cx="2032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Confirm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F1A1CE-63F5-31D0-71D8-B21BC8073D27}"/>
              </a:ext>
            </a:extLst>
          </p:cNvPr>
          <p:cNvSpPr txBox="1"/>
          <p:nvPr/>
        </p:nvSpPr>
        <p:spPr>
          <a:xfrm>
            <a:off x="914400" y="3657600"/>
            <a:ext cx="20066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>
                <a:solidFill>
                  <a:srgbClr val="B2CAC2"/>
                </a:solidFill>
                <a:latin typeface="Aptos" panose="020B0004020202020204" pitchFamily="34" charset="0"/>
              </a:rPr>
              <a:t>Attendance thresholds, cooldown, roles, and review ownership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D30071-4F23-E826-E2A0-E43F04F7E021}"/>
              </a:ext>
            </a:extLst>
          </p:cNvPr>
          <p:cNvSpPr/>
          <p:nvPr/>
        </p:nvSpPr>
        <p:spPr>
          <a:xfrm>
            <a:off x="3467100" y="2552700"/>
            <a:ext cx="2501900" cy="1993900"/>
          </a:xfrm>
          <a:prstGeom prst="roundRect">
            <a:avLst/>
          </a:prstGeom>
          <a:solidFill>
            <a:srgbClr val="1D3730"/>
          </a:solidFill>
          <a:ln w="10160">
            <a:solidFill>
              <a:srgbClr val="365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C83E2-7835-FF91-47DB-583D1CE3EFFE}"/>
              </a:ext>
            </a:extLst>
          </p:cNvPr>
          <p:cNvSpPr txBox="1"/>
          <p:nvPr/>
        </p:nvSpPr>
        <p:spPr>
          <a:xfrm>
            <a:off x="3695700" y="2781300"/>
            <a:ext cx="558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7EBBA9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5A5E34-C402-85D8-9DFE-9635D2A25FA3}"/>
              </a:ext>
            </a:extLst>
          </p:cNvPr>
          <p:cNvSpPr txBox="1"/>
          <p:nvPr/>
        </p:nvSpPr>
        <p:spPr>
          <a:xfrm>
            <a:off x="3695700" y="3200400"/>
            <a:ext cx="2032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Pilot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3D20CA-3BBE-E099-4472-147485DD4D1B}"/>
              </a:ext>
            </a:extLst>
          </p:cNvPr>
          <p:cNvSpPr txBox="1"/>
          <p:nvPr/>
        </p:nvSpPr>
        <p:spPr>
          <a:xfrm>
            <a:off x="3695700" y="3657600"/>
            <a:ext cx="20066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>
                <a:solidFill>
                  <a:srgbClr val="B2CAC2"/>
                </a:solidFill>
                <a:latin typeface="Aptos" panose="020B0004020202020204" pitchFamily="34" charset="0"/>
              </a:rPr>
              <a:t>Register a small employee group and validate camera positioning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34A321-DD1C-90D8-654E-F176FB760AB5}"/>
              </a:ext>
            </a:extLst>
          </p:cNvPr>
          <p:cNvSpPr/>
          <p:nvPr/>
        </p:nvSpPr>
        <p:spPr>
          <a:xfrm>
            <a:off x="6248400" y="2552700"/>
            <a:ext cx="2501900" cy="1993900"/>
          </a:xfrm>
          <a:prstGeom prst="roundRect">
            <a:avLst/>
          </a:prstGeom>
          <a:solidFill>
            <a:srgbClr val="1D3730"/>
          </a:solidFill>
          <a:ln w="10160">
            <a:solidFill>
              <a:srgbClr val="365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850CC-5F16-E1D7-1635-632EC986C356}"/>
              </a:ext>
            </a:extLst>
          </p:cNvPr>
          <p:cNvSpPr txBox="1"/>
          <p:nvPr/>
        </p:nvSpPr>
        <p:spPr>
          <a:xfrm>
            <a:off x="6477000" y="2781300"/>
            <a:ext cx="558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7EBBA9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B1BB1D-7D37-7B13-91C5-E705AFC27B92}"/>
              </a:ext>
            </a:extLst>
          </p:cNvPr>
          <p:cNvSpPr txBox="1"/>
          <p:nvPr/>
        </p:nvSpPr>
        <p:spPr>
          <a:xfrm>
            <a:off x="6477000" y="3200400"/>
            <a:ext cx="2032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Train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538FB3-CB49-46DD-2EA8-36454BF01751}"/>
              </a:ext>
            </a:extLst>
          </p:cNvPr>
          <p:cNvSpPr txBox="1"/>
          <p:nvPr/>
        </p:nvSpPr>
        <p:spPr>
          <a:xfrm>
            <a:off x="6477000" y="3657600"/>
            <a:ext cx="20066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>
                <a:solidFill>
                  <a:srgbClr val="B2CAC2"/>
                </a:solidFill>
                <a:latin typeface="Aptos" panose="020B0004020202020204" pitchFamily="34" charset="0"/>
              </a:rPr>
              <a:t>Brief admins on enrollment, decisions, backup, and recovery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0F0E998-E1DE-1439-7536-F6BF9158008B}"/>
              </a:ext>
            </a:extLst>
          </p:cNvPr>
          <p:cNvSpPr/>
          <p:nvPr/>
        </p:nvSpPr>
        <p:spPr>
          <a:xfrm>
            <a:off x="9029700" y="2552700"/>
            <a:ext cx="2501900" cy="1993900"/>
          </a:xfrm>
          <a:prstGeom prst="roundRect">
            <a:avLst/>
          </a:prstGeom>
          <a:solidFill>
            <a:srgbClr val="1D3730"/>
          </a:solidFill>
          <a:ln w="10160">
            <a:solidFill>
              <a:srgbClr val="365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64E2D5-BCFD-0DFE-65CB-A833977234BE}"/>
              </a:ext>
            </a:extLst>
          </p:cNvPr>
          <p:cNvSpPr txBox="1"/>
          <p:nvPr/>
        </p:nvSpPr>
        <p:spPr>
          <a:xfrm>
            <a:off x="9258300" y="2781300"/>
            <a:ext cx="558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7EBBA9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C34C51-0093-16B3-D08C-1331F916078B}"/>
              </a:ext>
            </a:extLst>
          </p:cNvPr>
          <p:cNvSpPr txBox="1"/>
          <p:nvPr/>
        </p:nvSpPr>
        <p:spPr>
          <a:xfrm>
            <a:off x="9258300" y="3200400"/>
            <a:ext cx="2032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Go live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9CD06D-242E-A90B-194F-43B3D8DEA93F}"/>
              </a:ext>
            </a:extLst>
          </p:cNvPr>
          <p:cNvSpPr txBox="1"/>
          <p:nvPr/>
        </p:nvSpPr>
        <p:spPr>
          <a:xfrm>
            <a:off x="9258300" y="3657600"/>
            <a:ext cx="20066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>
                <a:solidFill>
                  <a:srgbClr val="B2CAC2"/>
                </a:solidFill>
                <a:latin typeface="Aptos" panose="020B0004020202020204" pitchFamily="34" charset="0"/>
              </a:rPr>
              <a:t>Run continuously, monitor exceptions, and review adoption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FC3F3F1-FCCD-20F1-5884-BABB38E0549E}"/>
              </a:ext>
            </a:extLst>
          </p:cNvPr>
          <p:cNvSpPr/>
          <p:nvPr/>
        </p:nvSpPr>
        <p:spPr>
          <a:xfrm>
            <a:off x="685800" y="5041900"/>
            <a:ext cx="10845800" cy="812800"/>
          </a:xfrm>
          <a:prstGeom prst="roundRect">
            <a:avLst/>
          </a:prstGeom>
          <a:solidFill>
            <a:srgbClr val="176C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0EEC29-CB86-1EB1-0831-E571B15C1871}"/>
              </a:ext>
            </a:extLst>
          </p:cNvPr>
          <p:cNvSpPr txBox="1"/>
          <p:nvPr/>
        </p:nvSpPr>
        <p:spPr>
          <a:xfrm>
            <a:off x="990600" y="5049594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 Display" panose="020B0004020202020204" pitchFamily="34" charset="0"/>
              </a:rPr>
              <a:t>Ready for a focused client pilot and policy review.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FDEF04-6BE0-392E-A8AC-CFB0F621FCBC}"/>
              </a:ext>
            </a:extLst>
          </p:cNvPr>
          <p:cNvSpPr txBox="1"/>
          <p:nvPr/>
        </p:nvSpPr>
        <p:spPr>
          <a:xfrm>
            <a:off x="9321800" y="5111150"/>
            <a:ext cx="190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r"/>
            <a:r>
              <a:rPr lang="en-US" sz="900" b="1">
                <a:solidFill>
                  <a:srgbClr val="CDE9DF"/>
                </a:solidFill>
                <a:latin typeface="Aptos" panose="020B0004020202020204" pitchFamily="34" charset="0"/>
              </a:rPr>
              <a:t>Digital Facial Attendance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1A82E95-39A6-3F06-B086-FCCC9D65B002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8890">
            <a:solidFill>
              <a:srgbClr val="DCE4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846C13E-A97E-FEAA-0E59-039461F7EE8B}"/>
              </a:ext>
            </a:extLst>
          </p:cNvPr>
          <p:cNvSpPr txBox="1"/>
          <p:nvPr/>
        </p:nvSpPr>
        <p:spPr>
          <a:xfrm>
            <a:off x="609600" y="65405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DIGITAL ATTENDANCE | CLIENT PRESENTATION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9DA759-41D3-DC8B-5322-333A85200439}"/>
              </a:ext>
            </a:extLst>
          </p:cNvPr>
          <p:cNvSpPr txBox="1"/>
          <p:nvPr/>
        </p:nvSpPr>
        <p:spPr>
          <a:xfrm>
            <a:off x="10922000" y="6540500"/>
            <a:ext cx="660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800" b="1">
                <a:solidFill>
                  <a:srgbClr val="60716A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504DFD8-91F1-5341-8F06-11BBCD3591A0}"/>
              </a:ext>
            </a:extLst>
          </p:cNvPr>
          <p:cNvSpPr/>
          <p:nvPr/>
        </p:nvSpPr>
        <p:spPr>
          <a:xfrm>
            <a:off x="685800" y="863600"/>
            <a:ext cx="8509000" cy="660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0" rIns="228600" bIns="0" rtlCol="0" anchor="ctr"/>
          <a:lstStyle/>
          <a:p>
            <a:r>
              <a:rPr lang="en-US" sz="2400" b="1">
                <a:solidFill>
                  <a:srgbClr val="17211E"/>
                </a:solidFill>
                <a:latin typeface="Aptos" panose="020B0004020202020204" pitchFamily="34" charset="0"/>
              </a:rPr>
              <a:t>A practical path to client adoption</a:t>
            </a:r>
          </a:p>
        </p:txBody>
      </p:sp>
    </p:spTree>
    <p:extLst>
      <p:ext uri="{BB962C8B-B14F-4D97-AF65-F5344CB8AC3E}">
        <p14:creationId xmlns:p14="http://schemas.microsoft.com/office/powerpoint/2010/main" val="974306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</Words>
  <Application>Microsoft Office PowerPoint</Application>
  <PresentationFormat>Custom</PresentationFormat>
  <Paragraphs>226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chintukarri2002@gmail.com</dc:creator>
  <cp:lastModifiedBy>chintukarri2002@gmail.com</cp:lastModifiedBy>
  <cp:revision>1</cp:revision>
  <dcterms:created xsi:type="dcterms:W3CDTF">2026-07-10T15:47:56Z</dcterms:created>
  <dcterms:modified xsi:type="dcterms:W3CDTF">2026-07-10T15:47:56Z</dcterms:modified>
</cp:coreProperties>
</file>